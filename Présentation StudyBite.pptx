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Open Sans Bold" charset="1" panose="020B0806030504020204"/>
      <p:regular r:id="rId26"/>
    </p:embeddedFont>
    <p:embeddedFont>
      <p:font typeface="Open Sans" charset="1" panose="020B0606030504020204"/>
      <p:regular r:id="rId27"/>
    </p:embeddedFont>
    <p:embeddedFont>
      <p:font typeface="Radley" charset="1" panose="000005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2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6258890" y="412731"/>
            <a:ext cx="1675195" cy="167519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367" t="0" r="-1367" b="0"/>
              </a:stretch>
            </a:blipFill>
          </p:spPr>
        </p:sp>
      </p:grpSp>
      <p:sp>
        <p:nvSpPr>
          <p:cNvPr name="Freeform 5" id="5"/>
          <p:cNvSpPr/>
          <p:nvPr/>
        </p:nvSpPr>
        <p:spPr>
          <a:xfrm flipH="false" flipV="false" rot="0">
            <a:off x="285170" y="191102"/>
            <a:ext cx="1388763" cy="2118452"/>
          </a:xfrm>
          <a:custGeom>
            <a:avLst/>
            <a:gdLst/>
            <a:ahLst/>
            <a:cxnLst/>
            <a:rect r="r" b="b" t="t" l="l"/>
            <a:pathLst>
              <a:path h="2118452" w="1388763">
                <a:moveTo>
                  <a:pt x="0" y="0"/>
                </a:moveTo>
                <a:lnTo>
                  <a:pt x="1388763" y="0"/>
                </a:lnTo>
                <a:lnTo>
                  <a:pt x="1388763" y="2118453"/>
                </a:lnTo>
                <a:lnTo>
                  <a:pt x="0" y="2118453"/>
                </a:lnTo>
                <a:lnTo>
                  <a:pt x="0" y="0"/>
                </a:lnTo>
                <a:close/>
              </a:path>
            </a:pathLst>
          </a:custGeom>
          <a:blipFill>
            <a:blip r:embed="rId4"/>
            <a:stretch>
              <a:fillRect l="0" t="0" r="0" b="0"/>
            </a:stretch>
          </a:blipFill>
        </p:spPr>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1</a:t>
            </a:r>
          </a:p>
        </p:txBody>
      </p:sp>
      <p:sp>
        <p:nvSpPr>
          <p:cNvPr name="TextBox 7" id="7"/>
          <p:cNvSpPr txBox="true"/>
          <p:nvPr/>
        </p:nvSpPr>
        <p:spPr>
          <a:xfrm rot="0">
            <a:off x="10655102" y="8104496"/>
            <a:ext cx="2788325" cy="1153804"/>
          </a:xfrm>
          <a:prstGeom prst="rect">
            <a:avLst/>
          </a:prstGeom>
        </p:spPr>
        <p:txBody>
          <a:bodyPr anchor="t" rtlCol="false" tIns="0" lIns="0" bIns="0" rIns="0">
            <a:spAutoFit/>
          </a:bodyPr>
          <a:lstStyle/>
          <a:p>
            <a:pPr algn="ctr">
              <a:lnSpc>
                <a:spcPts val="3079"/>
              </a:lnSpc>
            </a:pPr>
            <a:r>
              <a:rPr lang="en-US" b="true" sz="2199">
                <a:solidFill>
                  <a:srgbClr val="665D5A"/>
                </a:solidFill>
                <a:latin typeface="Open Sans Bold"/>
                <a:ea typeface="Open Sans Bold"/>
                <a:cs typeface="Open Sans Bold"/>
                <a:sym typeface="Open Sans Bold"/>
              </a:rPr>
              <a:t>Enseignan</a:t>
            </a:r>
            <a:r>
              <a:rPr lang="en-US" b="true" sz="2199">
                <a:solidFill>
                  <a:srgbClr val="665D5A"/>
                </a:solidFill>
                <a:latin typeface="Open Sans Bold"/>
                <a:ea typeface="Open Sans Bold"/>
                <a:cs typeface="Open Sans Bold"/>
                <a:sym typeface="Open Sans Bold"/>
              </a:rPr>
              <a:t>tes :</a:t>
            </a:r>
          </a:p>
          <a:p>
            <a:pPr algn="ctr">
              <a:lnSpc>
                <a:spcPts val="3079"/>
              </a:lnSpc>
            </a:pPr>
            <a:r>
              <a:rPr lang="en-US" sz="2199">
                <a:solidFill>
                  <a:srgbClr val="665D5A"/>
                </a:solidFill>
                <a:latin typeface="Open Sans"/>
                <a:ea typeface="Open Sans"/>
                <a:cs typeface="Open Sans"/>
                <a:sym typeface="Open Sans"/>
              </a:rPr>
              <a:t>Mme Sénda LAATAWI</a:t>
            </a:r>
          </a:p>
          <a:p>
            <a:pPr algn="ctr">
              <a:lnSpc>
                <a:spcPts val="3079"/>
              </a:lnSpc>
            </a:pPr>
            <a:r>
              <a:rPr lang="en-US" sz="2199">
                <a:solidFill>
                  <a:srgbClr val="665D5A"/>
                </a:solidFill>
                <a:latin typeface="Open Sans"/>
                <a:ea typeface="Open Sans"/>
                <a:cs typeface="Open Sans"/>
                <a:sym typeface="Open Sans"/>
              </a:rPr>
              <a:t>Mme Dorra DHAOU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82955" y="-1813159"/>
            <a:ext cx="22136667" cy="13515802"/>
            <a:chOff x="0" y="0"/>
            <a:chExt cx="29515555" cy="18021069"/>
          </a:xfrm>
        </p:grpSpPr>
        <p:sp>
          <p:nvSpPr>
            <p:cNvPr name="Freeform 3" id="3"/>
            <p:cNvSpPr/>
            <p:nvPr/>
          </p:nvSpPr>
          <p:spPr>
            <a:xfrm flipH="false" flipV="false" rot="-5400000">
              <a:off x="20694528" y="9200041"/>
              <a:ext cx="9712843" cy="7929212"/>
            </a:xfrm>
            <a:custGeom>
              <a:avLst/>
              <a:gdLst/>
              <a:ahLst/>
              <a:cxnLst/>
              <a:rect r="r" b="b" t="t" l="l"/>
              <a:pathLst>
                <a:path h="7929212" w="9712843">
                  <a:moveTo>
                    <a:pt x="0" y="0"/>
                  </a:moveTo>
                  <a:lnTo>
                    <a:pt x="9712843" y="0"/>
                  </a:lnTo>
                  <a:lnTo>
                    <a:pt x="9712843" y="7929212"/>
                  </a:lnTo>
                  <a:lnTo>
                    <a:pt x="0" y="7929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6495484">
              <a:off x="307039" y="10019620"/>
              <a:ext cx="9810905" cy="2550835"/>
            </a:xfrm>
            <a:custGeom>
              <a:avLst/>
              <a:gdLst/>
              <a:ahLst/>
              <a:cxnLst/>
              <a:rect r="r" b="b" t="t" l="l"/>
              <a:pathLst>
                <a:path h="2550835" w="9810905">
                  <a:moveTo>
                    <a:pt x="0" y="0"/>
                  </a:moveTo>
                  <a:lnTo>
                    <a:pt x="9810904" y="0"/>
                  </a:lnTo>
                  <a:lnTo>
                    <a:pt x="9810904" y="2550836"/>
                  </a:lnTo>
                  <a:lnTo>
                    <a:pt x="0" y="25508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045018" y="1045018"/>
              <a:ext cx="11381382" cy="9291346"/>
            </a:xfrm>
            <a:custGeom>
              <a:avLst/>
              <a:gdLst/>
              <a:ahLst/>
              <a:cxnLst/>
              <a:rect r="r" b="b" t="t" l="l"/>
              <a:pathLst>
                <a:path h="9291346" w="11381382">
                  <a:moveTo>
                    <a:pt x="0" y="0"/>
                  </a:moveTo>
                  <a:lnTo>
                    <a:pt x="11381382" y="0"/>
                  </a:lnTo>
                  <a:lnTo>
                    <a:pt x="11381382" y="9291346"/>
                  </a:lnTo>
                  <a:lnTo>
                    <a:pt x="0" y="92913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4700908">
              <a:off x="20645497" y="5898752"/>
              <a:ext cx="9810905" cy="2550835"/>
            </a:xfrm>
            <a:custGeom>
              <a:avLst/>
              <a:gdLst/>
              <a:ahLst/>
              <a:cxnLst/>
              <a:rect r="r" b="b" t="t" l="l"/>
              <a:pathLst>
                <a:path h="2550835" w="9810905">
                  <a:moveTo>
                    <a:pt x="0" y="0"/>
                  </a:moveTo>
                  <a:lnTo>
                    <a:pt x="9810905" y="0"/>
                  </a:lnTo>
                  <a:lnTo>
                    <a:pt x="9810905" y="2550835"/>
                  </a:lnTo>
                  <a:lnTo>
                    <a:pt x="0" y="25508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7" id="7"/>
          <p:cNvSpPr txBox="true"/>
          <p:nvPr/>
        </p:nvSpPr>
        <p:spPr>
          <a:xfrm rot="0">
            <a:off x="3032310" y="2435524"/>
            <a:ext cx="13220090" cy="5305784"/>
          </a:xfrm>
          <a:prstGeom prst="rect">
            <a:avLst/>
          </a:prstGeom>
        </p:spPr>
        <p:txBody>
          <a:bodyPr anchor="t" rtlCol="false" tIns="0" lIns="0" bIns="0" rIns="0">
            <a:spAutoFit/>
          </a:bodyPr>
          <a:lstStyle/>
          <a:p>
            <a:pPr algn="l" marL="1095058" indent="-547529" lvl="1">
              <a:lnSpc>
                <a:spcPts val="7100"/>
              </a:lnSpc>
              <a:buFont typeface="Arial"/>
              <a:buChar char="•"/>
            </a:pPr>
            <a:r>
              <a:rPr lang="en-US" b="true" sz="5072">
                <a:solidFill>
                  <a:srgbClr val="665D5A"/>
                </a:solidFill>
                <a:latin typeface="Open Sans Bold"/>
                <a:ea typeface="Open Sans Bold"/>
                <a:cs typeface="Open Sans Bold"/>
                <a:sym typeface="Open Sans Bold"/>
              </a:rPr>
              <a:t>idee général </a:t>
            </a:r>
          </a:p>
          <a:p>
            <a:pPr algn="l" marL="1095058" indent="-547529" lvl="1">
              <a:lnSpc>
                <a:spcPts val="7100"/>
              </a:lnSpc>
              <a:buFont typeface="Arial"/>
              <a:buChar char="•"/>
            </a:pPr>
            <a:r>
              <a:rPr lang="en-US" b="true" sz="5072">
                <a:solidFill>
                  <a:srgbClr val="665D5A"/>
                </a:solidFill>
                <a:latin typeface="Open Sans Bold"/>
                <a:ea typeface="Open Sans Bold"/>
                <a:cs typeface="Open Sans Bold"/>
                <a:sym typeface="Open Sans Bold"/>
              </a:rPr>
              <a:t>problematique</a:t>
            </a:r>
          </a:p>
          <a:p>
            <a:pPr algn="l" marL="1095058" indent="-547529" lvl="1">
              <a:lnSpc>
                <a:spcPts val="7100"/>
              </a:lnSpc>
              <a:buFont typeface="Arial"/>
              <a:buChar char="•"/>
            </a:pPr>
            <a:r>
              <a:rPr lang="en-US" b="true" sz="5072">
                <a:solidFill>
                  <a:srgbClr val="665D5A"/>
                </a:solidFill>
                <a:latin typeface="Open Sans Bold"/>
                <a:ea typeface="Open Sans Bold"/>
                <a:cs typeface="Open Sans Bold"/>
                <a:sym typeface="Open Sans Bold"/>
              </a:rPr>
              <a:t>Fonctionnalités principales</a:t>
            </a:r>
          </a:p>
          <a:p>
            <a:pPr algn="l" marL="1095058" indent="-547529" lvl="1">
              <a:lnSpc>
                <a:spcPts val="7100"/>
              </a:lnSpc>
              <a:buFont typeface="Arial"/>
              <a:buChar char="•"/>
            </a:pPr>
            <a:r>
              <a:rPr lang="en-US" b="true" sz="5072">
                <a:solidFill>
                  <a:srgbClr val="665D5A"/>
                </a:solidFill>
                <a:latin typeface="Open Sans Bold"/>
                <a:ea typeface="Open Sans Bold"/>
                <a:cs typeface="Open Sans Bold"/>
                <a:sym typeface="Open Sans Bold"/>
              </a:rPr>
              <a:t>Parcours de l’utilisateur et admin</a:t>
            </a:r>
          </a:p>
          <a:p>
            <a:pPr algn="l" marL="1095058" indent="-547529" lvl="1">
              <a:lnSpc>
                <a:spcPts val="7100"/>
              </a:lnSpc>
              <a:buFont typeface="Arial"/>
              <a:buChar char="•"/>
            </a:pPr>
            <a:r>
              <a:rPr lang="en-US" b="true" sz="5072">
                <a:solidFill>
                  <a:srgbClr val="665D5A"/>
                </a:solidFill>
                <a:latin typeface="Open Sans Bold"/>
                <a:ea typeface="Open Sans Bold"/>
                <a:cs typeface="Open Sans Bold"/>
                <a:sym typeface="Open Sans Bold"/>
              </a:rPr>
              <a:t>Technologies utilisées</a:t>
            </a:r>
          </a:p>
          <a:p>
            <a:pPr algn="l" marL="1095058" indent="-547529" lvl="1">
              <a:lnSpc>
                <a:spcPts val="7100"/>
              </a:lnSpc>
              <a:buFont typeface="Arial"/>
              <a:buChar char="•"/>
            </a:pPr>
            <a:r>
              <a:rPr lang="en-US" b="true" sz="5072">
                <a:solidFill>
                  <a:srgbClr val="665D5A"/>
                </a:solidFill>
                <a:latin typeface="Open Sans Bold"/>
                <a:ea typeface="Open Sans Bold"/>
                <a:cs typeface="Open Sans Bold"/>
                <a:sym typeface="Open Sans Bold"/>
              </a:rPr>
              <a:t>conclusion </a:t>
            </a:r>
          </a:p>
        </p:txBody>
      </p:sp>
      <p:sp>
        <p:nvSpPr>
          <p:cNvPr name="TextBox 8" id="8"/>
          <p:cNvSpPr txBox="true"/>
          <p:nvPr/>
        </p:nvSpPr>
        <p:spPr>
          <a:xfrm rot="0">
            <a:off x="2647084" y="1061170"/>
            <a:ext cx="12554385" cy="899541"/>
          </a:xfrm>
          <a:prstGeom prst="rect">
            <a:avLst/>
          </a:prstGeom>
        </p:spPr>
        <p:txBody>
          <a:bodyPr anchor="t" rtlCol="false" tIns="0" lIns="0" bIns="0" rIns="0">
            <a:spAutoFit/>
          </a:bodyPr>
          <a:lstStyle/>
          <a:p>
            <a:pPr algn="ctr" marL="0" indent="0" lvl="0">
              <a:lnSpc>
                <a:spcPts val="6237"/>
              </a:lnSpc>
            </a:pPr>
            <a:r>
              <a:rPr lang="en-US" sz="8100">
                <a:solidFill>
                  <a:srgbClr val="D49E26"/>
                </a:solidFill>
                <a:latin typeface="Radley"/>
                <a:ea typeface="Radley"/>
                <a:cs typeface="Radley"/>
                <a:sym typeface="Radley"/>
              </a:rPr>
              <a:t>plan</a:t>
            </a:r>
          </a:p>
        </p:txBody>
      </p:sp>
      <p:sp>
        <p:nvSpPr>
          <p:cNvPr name="TextBox 9" id="9"/>
          <p:cNvSpPr txBox="true"/>
          <p:nvPr/>
        </p:nvSpPr>
        <p:spPr>
          <a:xfrm rot="0">
            <a:off x="17259300" y="9210675"/>
            <a:ext cx="42862" cy="137160"/>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82955" y="-1813159"/>
            <a:ext cx="22136667" cy="13515802"/>
            <a:chOff x="0" y="0"/>
            <a:chExt cx="29515555" cy="18021069"/>
          </a:xfrm>
        </p:grpSpPr>
        <p:sp>
          <p:nvSpPr>
            <p:cNvPr name="Freeform 3" id="3"/>
            <p:cNvSpPr/>
            <p:nvPr/>
          </p:nvSpPr>
          <p:spPr>
            <a:xfrm flipH="false" flipV="false" rot="-5400000">
              <a:off x="20694528" y="9200041"/>
              <a:ext cx="9712843" cy="7929212"/>
            </a:xfrm>
            <a:custGeom>
              <a:avLst/>
              <a:gdLst/>
              <a:ahLst/>
              <a:cxnLst/>
              <a:rect r="r" b="b" t="t" l="l"/>
              <a:pathLst>
                <a:path h="7929212" w="9712843">
                  <a:moveTo>
                    <a:pt x="0" y="0"/>
                  </a:moveTo>
                  <a:lnTo>
                    <a:pt x="9712843" y="0"/>
                  </a:lnTo>
                  <a:lnTo>
                    <a:pt x="9712843" y="7929212"/>
                  </a:lnTo>
                  <a:lnTo>
                    <a:pt x="0" y="7929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6495484">
              <a:off x="307039" y="10019620"/>
              <a:ext cx="9810905" cy="2550835"/>
            </a:xfrm>
            <a:custGeom>
              <a:avLst/>
              <a:gdLst/>
              <a:ahLst/>
              <a:cxnLst/>
              <a:rect r="r" b="b" t="t" l="l"/>
              <a:pathLst>
                <a:path h="2550835" w="9810905">
                  <a:moveTo>
                    <a:pt x="0" y="0"/>
                  </a:moveTo>
                  <a:lnTo>
                    <a:pt x="9810904" y="0"/>
                  </a:lnTo>
                  <a:lnTo>
                    <a:pt x="9810904" y="2550836"/>
                  </a:lnTo>
                  <a:lnTo>
                    <a:pt x="0" y="25508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045018" y="1045018"/>
              <a:ext cx="11381382" cy="9291346"/>
            </a:xfrm>
            <a:custGeom>
              <a:avLst/>
              <a:gdLst/>
              <a:ahLst/>
              <a:cxnLst/>
              <a:rect r="r" b="b" t="t" l="l"/>
              <a:pathLst>
                <a:path h="9291346" w="11381382">
                  <a:moveTo>
                    <a:pt x="0" y="0"/>
                  </a:moveTo>
                  <a:lnTo>
                    <a:pt x="11381382" y="0"/>
                  </a:lnTo>
                  <a:lnTo>
                    <a:pt x="11381382" y="9291346"/>
                  </a:lnTo>
                  <a:lnTo>
                    <a:pt x="0" y="92913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4700908">
              <a:off x="20645497" y="5898752"/>
              <a:ext cx="9810905" cy="2550835"/>
            </a:xfrm>
            <a:custGeom>
              <a:avLst/>
              <a:gdLst/>
              <a:ahLst/>
              <a:cxnLst/>
              <a:rect r="r" b="b" t="t" l="l"/>
              <a:pathLst>
                <a:path h="2550835" w="9810905">
                  <a:moveTo>
                    <a:pt x="0" y="0"/>
                  </a:moveTo>
                  <a:lnTo>
                    <a:pt x="9810905" y="0"/>
                  </a:lnTo>
                  <a:lnTo>
                    <a:pt x="9810905" y="2550835"/>
                  </a:lnTo>
                  <a:lnTo>
                    <a:pt x="0" y="25508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7" id="7"/>
          <p:cNvSpPr txBox="true"/>
          <p:nvPr/>
        </p:nvSpPr>
        <p:spPr>
          <a:xfrm rot="0">
            <a:off x="2553789" y="2615150"/>
            <a:ext cx="13180423" cy="3769360"/>
          </a:xfrm>
          <a:prstGeom prst="rect">
            <a:avLst/>
          </a:prstGeom>
        </p:spPr>
        <p:txBody>
          <a:bodyPr anchor="t" rtlCol="false" tIns="0" lIns="0" bIns="0" rIns="0">
            <a:spAutoFit/>
          </a:bodyPr>
          <a:lstStyle/>
          <a:p>
            <a:pPr algn="ctr">
              <a:lnSpc>
                <a:spcPts val="4339"/>
              </a:lnSpc>
              <a:spcBef>
                <a:spcPct val="0"/>
              </a:spcBef>
            </a:pPr>
            <a:r>
              <a:rPr lang="en-US" b="true" sz="3099">
                <a:solidFill>
                  <a:srgbClr val="665D5A"/>
                </a:solidFill>
                <a:latin typeface="Open Sans Bold"/>
                <a:ea typeface="Open Sans Bold"/>
                <a:cs typeface="Open Sans Bold"/>
                <a:sym typeface="Open Sans Bold"/>
              </a:rPr>
              <a:t>L</a:t>
            </a:r>
            <a:r>
              <a:rPr lang="en-US" b="true" sz="3099">
                <a:solidFill>
                  <a:srgbClr val="665D5A"/>
                </a:solidFill>
                <a:latin typeface="Open Sans Bold"/>
                <a:ea typeface="Open Sans Bold"/>
                <a:cs typeface="Open Sans Bold"/>
                <a:sym typeface="Open Sans Bold"/>
              </a:rPr>
              <a:t>e projet StudyBite propose une plateforme web de réservation pour un espace de coworking. L’utilisateur peut choisir en ligne sa place, son horaire, sa durée et même sa boisson avant de se déplacer, afin de planifier sa session facilement. Cette solution offre une expérience fluide et personnalisée, tout en permettant à l’administrateur de gérer les réservations de manière centralisée et en temps réel, avec une meilleure visibilité sur les disponibilités.</a:t>
            </a:r>
          </a:p>
        </p:txBody>
      </p:sp>
      <p:sp>
        <p:nvSpPr>
          <p:cNvPr name="TextBox 8" id="8"/>
          <p:cNvSpPr txBox="true"/>
          <p:nvPr/>
        </p:nvSpPr>
        <p:spPr>
          <a:xfrm rot="0">
            <a:off x="2647084" y="1365039"/>
            <a:ext cx="12554385" cy="595672"/>
          </a:xfrm>
          <a:prstGeom prst="rect">
            <a:avLst/>
          </a:prstGeom>
        </p:spPr>
        <p:txBody>
          <a:bodyPr anchor="t" rtlCol="false" tIns="0" lIns="0" bIns="0" rIns="0">
            <a:spAutoFit/>
          </a:bodyPr>
          <a:lstStyle/>
          <a:p>
            <a:pPr algn="ctr" marL="0" indent="0" lvl="0">
              <a:lnSpc>
                <a:spcPts val="4101"/>
              </a:lnSpc>
            </a:pPr>
            <a:r>
              <a:rPr lang="en-US" sz="5326">
                <a:solidFill>
                  <a:srgbClr val="D49E26"/>
                </a:solidFill>
                <a:latin typeface="Radley"/>
                <a:ea typeface="Radley"/>
                <a:cs typeface="Radley"/>
                <a:sym typeface="Radley"/>
              </a:rPr>
              <a:t>l’idee general</a:t>
            </a:r>
          </a:p>
        </p:txBody>
      </p:sp>
      <p:sp>
        <p:nvSpPr>
          <p:cNvPr name="TextBox 9" id="9"/>
          <p:cNvSpPr txBox="true"/>
          <p:nvPr/>
        </p:nvSpPr>
        <p:spPr>
          <a:xfrm rot="0">
            <a:off x="17259300" y="9210675"/>
            <a:ext cx="42862" cy="137160"/>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73430" y="-1813159"/>
            <a:ext cx="22136667" cy="13515802"/>
            <a:chOff x="0" y="0"/>
            <a:chExt cx="29515555" cy="18021069"/>
          </a:xfrm>
        </p:grpSpPr>
        <p:sp>
          <p:nvSpPr>
            <p:cNvPr name="Freeform 3" id="3"/>
            <p:cNvSpPr/>
            <p:nvPr/>
          </p:nvSpPr>
          <p:spPr>
            <a:xfrm flipH="false" flipV="false" rot="-5400000">
              <a:off x="20694528" y="9200041"/>
              <a:ext cx="9712843" cy="7929212"/>
            </a:xfrm>
            <a:custGeom>
              <a:avLst/>
              <a:gdLst/>
              <a:ahLst/>
              <a:cxnLst/>
              <a:rect r="r" b="b" t="t" l="l"/>
              <a:pathLst>
                <a:path h="7929212" w="9712843">
                  <a:moveTo>
                    <a:pt x="0" y="0"/>
                  </a:moveTo>
                  <a:lnTo>
                    <a:pt x="9712843" y="0"/>
                  </a:lnTo>
                  <a:lnTo>
                    <a:pt x="9712843" y="7929212"/>
                  </a:lnTo>
                  <a:lnTo>
                    <a:pt x="0" y="7929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6495484">
              <a:off x="307039" y="10019620"/>
              <a:ext cx="9810905" cy="2550835"/>
            </a:xfrm>
            <a:custGeom>
              <a:avLst/>
              <a:gdLst/>
              <a:ahLst/>
              <a:cxnLst/>
              <a:rect r="r" b="b" t="t" l="l"/>
              <a:pathLst>
                <a:path h="2550835" w="9810905">
                  <a:moveTo>
                    <a:pt x="0" y="0"/>
                  </a:moveTo>
                  <a:lnTo>
                    <a:pt x="9810904" y="0"/>
                  </a:lnTo>
                  <a:lnTo>
                    <a:pt x="9810904" y="2550836"/>
                  </a:lnTo>
                  <a:lnTo>
                    <a:pt x="0" y="25508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045018" y="1045018"/>
              <a:ext cx="11381382" cy="9291346"/>
            </a:xfrm>
            <a:custGeom>
              <a:avLst/>
              <a:gdLst/>
              <a:ahLst/>
              <a:cxnLst/>
              <a:rect r="r" b="b" t="t" l="l"/>
              <a:pathLst>
                <a:path h="9291346" w="11381382">
                  <a:moveTo>
                    <a:pt x="0" y="0"/>
                  </a:moveTo>
                  <a:lnTo>
                    <a:pt x="11381382" y="0"/>
                  </a:lnTo>
                  <a:lnTo>
                    <a:pt x="11381382" y="9291346"/>
                  </a:lnTo>
                  <a:lnTo>
                    <a:pt x="0" y="92913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4700908">
              <a:off x="20645497" y="5898752"/>
              <a:ext cx="9810905" cy="2550835"/>
            </a:xfrm>
            <a:custGeom>
              <a:avLst/>
              <a:gdLst/>
              <a:ahLst/>
              <a:cxnLst/>
              <a:rect r="r" b="b" t="t" l="l"/>
              <a:pathLst>
                <a:path h="2550835" w="9810905">
                  <a:moveTo>
                    <a:pt x="0" y="0"/>
                  </a:moveTo>
                  <a:lnTo>
                    <a:pt x="9810905" y="0"/>
                  </a:lnTo>
                  <a:lnTo>
                    <a:pt x="9810905" y="2550835"/>
                  </a:lnTo>
                  <a:lnTo>
                    <a:pt x="0" y="25508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7" id="7"/>
          <p:cNvSpPr txBox="true"/>
          <p:nvPr/>
        </p:nvSpPr>
        <p:spPr>
          <a:xfrm rot="0">
            <a:off x="3364280" y="2321525"/>
            <a:ext cx="11042197" cy="7077140"/>
          </a:xfrm>
          <a:prstGeom prst="rect">
            <a:avLst/>
          </a:prstGeom>
        </p:spPr>
        <p:txBody>
          <a:bodyPr anchor="t" rtlCol="false" tIns="0" lIns="0" bIns="0" rIns="0">
            <a:spAutoFit/>
          </a:bodyPr>
          <a:lstStyle/>
          <a:p>
            <a:pPr algn="ctr">
              <a:lnSpc>
                <a:spcPts val="6296"/>
              </a:lnSpc>
              <a:spcBef>
                <a:spcPct val="0"/>
              </a:spcBef>
            </a:pPr>
            <a:r>
              <a:rPr lang="en-US" b="true" sz="4497">
                <a:solidFill>
                  <a:srgbClr val="665D5A"/>
                </a:solidFill>
                <a:latin typeface="Open Sans Bold"/>
                <a:ea typeface="Open Sans Bold"/>
                <a:cs typeface="Open Sans Bold"/>
                <a:sym typeface="Open Sans Bold"/>
              </a:rPr>
              <a:t>C</a:t>
            </a:r>
            <a:r>
              <a:rPr lang="en-US" b="true" sz="4497">
                <a:solidFill>
                  <a:srgbClr val="665D5A"/>
                </a:solidFill>
                <a:latin typeface="Open Sans Bold"/>
                <a:ea typeface="Open Sans Bold"/>
                <a:cs typeface="Open Sans Bold"/>
                <a:sym typeface="Open Sans Bold"/>
              </a:rPr>
              <a:t>omment concevoir et développer une plateforme web interactive, sécurisée et intuitive, permettant aux utilisateurs de réserver des postes de travail en temps réel dans un espace coworking, tout en offrant à l'administrateur une gestion centralisée et efficace des réservations ?</a:t>
            </a:r>
          </a:p>
        </p:txBody>
      </p:sp>
      <p:sp>
        <p:nvSpPr>
          <p:cNvPr name="TextBox 8" id="8"/>
          <p:cNvSpPr txBox="true"/>
          <p:nvPr/>
        </p:nvSpPr>
        <p:spPr>
          <a:xfrm rot="0">
            <a:off x="2866808" y="830813"/>
            <a:ext cx="12554385" cy="652949"/>
          </a:xfrm>
          <a:prstGeom prst="rect">
            <a:avLst/>
          </a:prstGeom>
        </p:spPr>
        <p:txBody>
          <a:bodyPr anchor="t" rtlCol="false" tIns="0" lIns="0" bIns="0" rIns="0">
            <a:spAutoFit/>
          </a:bodyPr>
          <a:lstStyle/>
          <a:p>
            <a:pPr algn="ctr" marL="0" indent="0" lvl="0">
              <a:lnSpc>
                <a:spcPts val="4640"/>
              </a:lnSpc>
              <a:spcBef>
                <a:spcPct val="0"/>
              </a:spcBef>
            </a:pPr>
            <a:r>
              <a:rPr lang="en-US" sz="6026">
                <a:solidFill>
                  <a:srgbClr val="D49E26"/>
                </a:solidFill>
                <a:latin typeface="Radley"/>
                <a:ea typeface="Radley"/>
                <a:cs typeface="Radley"/>
                <a:sym typeface="Radley"/>
              </a:rPr>
              <a:t>P</a:t>
            </a:r>
            <a:r>
              <a:rPr lang="en-US" sz="6026" strike="noStrike" u="none">
                <a:solidFill>
                  <a:srgbClr val="D49E26"/>
                </a:solidFill>
                <a:latin typeface="Radley"/>
                <a:ea typeface="Radley"/>
                <a:cs typeface="Radley"/>
                <a:sym typeface="Radley"/>
              </a:rPr>
              <a:t>roblématique</a:t>
            </a:r>
          </a:p>
        </p:txBody>
      </p:sp>
      <p:sp>
        <p:nvSpPr>
          <p:cNvPr name="TextBox 9" id="9"/>
          <p:cNvSpPr txBox="true"/>
          <p:nvPr/>
        </p:nvSpPr>
        <p:spPr>
          <a:xfrm rot="0">
            <a:off x="17259300" y="9210675"/>
            <a:ext cx="43577" cy="137160"/>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82955" y="-1813159"/>
            <a:ext cx="22136667" cy="13515802"/>
            <a:chOff x="0" y="0"/>
            <a:chExt cx="29515555" cy="18021069"/>
          </a:xfrm>
        </p:grpSpPr>
        <p:sp>
          <p:nvSpPr>
            <p:cNvPr name="Freeform 3" id="3"/>
            <p:cNvSpPr/>
            <p:nvPr/>
          </p:nvSpPr>
          <p:spPr>
            <a:xfrm flipH="false" flipV="false" rot="-5400000">
              <a:off x="20694528" y="9200041"/>
              <a:ext cx="9712843" cy="7929212"/>
            </a:xfrm>
            <a:custGeom>
              <a:avLst/>
              <a:gdLst/>
              <a:ahLst/>
              <a:cxnLst/>
              <a:rect r="r" b="b" t="t" l="l"/>
              <a:pathLst>
                <a:path h="7929212" w="9712843">
                  <a:moveTo>
                    <a:pt x="0" y="0"/>
                  </a:moveTo>
                  <a:lnTo>
                    <a:pt x="9712843" y="0"/>
                  </a:lnTo>
                  <a:lnTo>
                    <a:pt x="9712843" y="7929212"/>
                  </a:lnTo>
                  <a:lnTo>
                    <a:pt x="0" y="7929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6495484">
              <a:off x="307039" y="10019620"/>
              <a:ext cx="9810905" cy="2550835"/>
            </a:xfrm>
            <a:custGeom>
              <a:avLst/>
              <a:gdLst/>
              <a:ahLst/>
              <a:cxnLst/>
              <a:rect r="r" b="b" t="t" l="l"/>
              <a:pathLst>
                <a:path h="2550835" w="9810905">
                  <a:moveTo>
                    <a:pt x="0" y="0"/>
                  </a:moveTo>
                  <a:lnTo>
                    <a:pt x="9810904" y="0"/>
                  </a:lnTo>
                  <a:lnTo>
                    <a:pt x="9810904" y="2550836"/>
                  </a:lnTo>
                  <a:lnTo>
                    <a:pt x="0" y="25508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045018" y="1045018"/>
              <a:ext cx="11381382" cy="9291346"/>
            </a:xfrm>
            <a:custGeom>
              <a:avLst/>
              <a:gdLst/>
              <a:ahLst/>
              <a:cxnLst/>
              <a:rect r="r" b="b" t="t" l="l"/>
              <a:pathLst>
                <a:path h="9291346" w="11381382">
                  <a:moveTo>
                    <a:pt x="0" y="0"/>
                  </a:moveTo>
                  <a:lnTo>
                    <a:pt x="11381382" y="0"/>
                  </a:lnTo>
                  <a:lnTo>
                    <a:pt x="11381382" y="9291346"/>
                  </a:lnTo>
                  <a:lnTo>
                    <a:pt x="0" y="92913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4700908">
              <a:off x="20645497" y="5898752"/>
              <a:ext cx="9810905" cy="2550835"/>
            </a:xfrm>
            <a:custGeom>
              <a:avLst/>
              <a:gdLst/>
              <a:ahLst/>
              <a:cxnLst/>
              <a:rect r="r" b="b" t="t" l="l"/>
              <a:pathLst>
                <a:path h="2550835" w="9810905">
                  <a:moveTo>
                    <a:pt x="0" y="0"/>
                  </a:moveTo>
                  <a:lnTo>
                    <a:pt x="9810905" y="0"/>
                  </a:lnTo>
                  <a:lnTo>
                    <a:pt x="9810905" y="2550835"/>
                  </a:lnTo>
                  <a:lnTo>
                    <a:pt x="0" y="25508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7" id="7"/>
          <p:cNvSpPr txBox="true"/>
          <p:nvPr/>
        </p:nvSpPr>
        <p:spPr>
          <a:xfrm rot="0">
            <a:off x="2605514" y="3268481"/>
            <a:ext cx="14129919" cy="3545467"/>
          </a:xfrm>
          <a:prstGeom prst="rect">
            <a:avLst/>
          </a:prstGeom>
        </p:spPr>
        <p:txBody>
          <a:bodyPr anchor="t" rtlCol="false" tIns="0" lIns="0" bIns="0" rIns="0">
            <a:spAutoFit/>
          </a:bodyPr>
          <a:lstStyle/>
          <a:p>
            <a:pPr algn="l">
              <a:lnSpc>
                <a:spcPts val="5612"/>
              </a:lnSpc>
              <a:spcBef>
                <a:spcPct val="0"/>
              </a:spcBef>
            </a:pPr>
          </a:p>
          <a:p>
            <a:pPr algn="l">
              <a:lnSpc>
                <a:spcPts val="5612"/>
              </a:lnSpc>
              <a:spcBef>
                <a:spcPct val="0"/>
              </a:spcBef>
            </a:pPr>
            <a:r>
              <a:rPr lang="en-US" b="true" sz="4008">
                <a:solidFill>
                  <a:srgbClr val="665D5A"/>
                </a:solidFill>
                <a:latin typeface="Open Sans Bold"/>
                <a:ea typeface="Open Sans Bold"/>
                <a:cs typeface="Open Sans Bold"/>
                <a:sym typeface="Open Sans Bold"/>
              </a:rPr>
              <a:t> L’utilisateur crée un compte sécurisé puis se connecte selon son rôle. Il est automatiquement redirigé vers l’interface correspondante.</a:t>
            </a:r>
          </a:p>
          <a:p>
            <a:pPr algn="ctr">
              <a:lnSpc>
                <a:spcPts val="5612"/>
              </a:lnSpc>
              <a:spcBef>
                <a:spcPct val="0"/>
              </a:spcBef>
            </a:pPr>
          </a:p>
        </p:txBody>
      </p:sp>
      <p:sp>
        <p:nvSpPr>
          <p:cNvPr name="TextBox 8" id="8"/>
          <p:cNvSpPr txBox="true"/>
          <p:nvPr/>
        </p:nvSpPr>
        <p:spPr>
          <a:xfrm rot="0">
            <a:off x="17259300" y="9210675"/>
            <a:ext cx="42862" cy="137160"/>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5</a:t>
            </a:r>
          </a:p>
        </p:txBody>
      </p:sp>
      <p:sp>
        <p:nvSpPr>
          <p:cNvPr name="TextBox 9" id="9"/>
          <p:cNvSpPr txBox="true"/>
          <p:nvPr/>
        </p:nvSpPr>
        <p:spPr>
          <a:xfrm rot="0">
            <a:off x="-565540" y="924611"/>
            <a:ext cx="17867702" cy="1110023"/>
          </a:xfrm>
          <a:prstGeom prst="rect">
            <a:avLst/>
          </a:prstGeom>
        </p:spPr>
        <p:txBody>
          <a:bodyPr anchor="t" rtlCol="false" tIns="0" lIns="0" bIns="0" rIns="0">
            <a:spAutoFit/>
          </a:bodyPr>
          <a:lstStyle/>
          <a:p>
            <a:pPr algn="ctr" marL="0" indent="0" lvl="0">
              <a:lnSpc>
                <a:spcPts val="4101"/>
              </a:lnSpc>
              <a:spcBef>
                <a:spcPct val="0"/>
              </a:spcBef>
            </a:pPr>
            <a:r>
              <a:rPr lang="en-US" sz="5326" strike="noStrike" u="none">
                <a:solidFill>
                  <a:srgbClr val="D49E26"/>
                </a:solidFill>
                <a:latin typeface="Radley"/>
                <a:ea typeface="Radley"/>
                <a:cs typeface="Radley"/>
                <a:sym typeface="Radley"/>
              </a:rPr>
              <a:t>Fonctionnalités principales</a:t>
            </a:r>
          </a:p>
          <a:p>
            <a:pPr algn="ctr" marL="0" indent="0" lvl="0">
              <a:lnSpc>
                <a:spcPts val="4101"/>
              </a:lnSpc>
              <a:spcBef>
                <a:spcPct val="0"/>
              </a:spcBef>
            </a:pPr>
          </a:p>
        </p:txBody>
      </p:sp>
      <p:sp>
        <p:nvSpPr>
          <p:cNvPr name="TextBox 10" id="10"/>
          <p:cNvSpPr txBox="true"/>
          <p:nvPr/>
        </p:nvSpPr>
        <p:spPr>
          <a:xfrm rot="0">
            <a:off x="-441566" y="2244184"/>
            <a:ext cx="17867702" cy="1110023"/>
          </a:xfrm>
          <a:prstGeom prst="rect">
            <a:avLst/>
          </a:prstGeom>
        </p:spPr>
        <p:txBody>
          <a:bodyPr anchor="t" rtlCol="false" tIns="0" lIns="0" bIns="0" rIns="0">
            <a:spAutoFit/>
          </a:bodyPr>
          <a:lstStyle/>
          <a:p>
            <a:pPr algn="ctr" marL="0" indent="0" lvl="0">
              <a:lnSpc>
                <a:spcPts val="4101"/>
              </a:lnSpc>
              <a:spcBef>
                <a:spcPct val="0"/>
              </a:spcBef>
            </a:pPr>
            <a:r>
              <a:rPr lang="en-US" sz="5326">
                <a:solidFill>
                  <a:srgbClr val="604ABD"/>
                </a:solidFill>
                <a:latin typeface="Radley"/>
                <a:ea typeface="Radley"/>
                <a:cs typeface="Radley"/>
                <a:sym typeface="Radley"/>
              </a:rPr>
              <a:t>1 — I</a:t>
            </a:r>
            <a:r>
              <a:rPr lang="en-US" sz="5326" strike="noStrike" u="none">
                <a:solidFill>
                  <a:srgbClr val="604ABD"/>
                </a:solidFill>
                <a:latin typeface="Radley"/>
                <a:ea typeface="Radley"/>
                <a:cs typeface="Radley"/>
                <a:sym typeface="Radley"/>
              </a:rPr>
              <a:t>n</a:t>
            </a:r>
            <a:r>
              <a:rPr lang="en-US" sz="5326" strike="noStrike" u="none">
                <a:solidFill>
                  <a:srgbClr val="604ABD"/>
                </a:solidFill>
                <a:latin typeface="Radley"/>
                <a:ea typeface="Radley"/>
                <a:cs typeface="Radley"/>
                <a:sym typeface="Radley"/>
              </a:rPr>
              <a:t>s</a:t>
            </a:r>
            <a:r>
              <a:rPr lang="en-US" sz="5326" strike="noStrike" u="none">
                <a:solidFill>
                  <a:srgbClr val="604ABD"/>
                </a:solidFill>
                <a:latin typeface="Radley"/>
                <a:ea typeface="Radley"/>
                <a:cs typeface="Radley"/>
                <a:sym typeface="Radley"/>
              </a:rPr>
              <a:t>c</a:t>
            </a:r>
            <a:r>
              <a:rPr lang="en-US" sz="5326" strike="noStrike" u="none">
                <a:solidFill>
                  <a:srgbClr val="604ABD"/>
                </a:solidFill>
                <a:latin typeface="Radley"/>
                <a:ea typeface="Radley"/>
                <a:cs typeface="Radley"/>
                <a:sym typeface="Radley"/>
              </a:rPr>
              <a:t>rip</a:t>
            </a:r>
            <a:r>
              <a:rPr lang="en-US" sz="5326" strike="noStrike" u="none">
                <a:solidFill>
                  <a:srgbClr val="604ABD"/>
                </a:solidFill>
                <a:latin typeface="Radley"/>
                <a:ea typeface="Radley"/>
                <a:cs typeface="Radley"/>
                <a:sym typeface="Radley"/>
              </a:rPr>
              <a:t>tion</a:t>
            </a:r>
            <a:r>
              <a:rPr lang="en-US" sz="5326" strike="noStrike" u="none">
                <a:solidFill>
                  <a:srgbClr val="604ABD"/>
                </a:solidFill>
                <a:latin typeface="Radley"/>
                <a:ea typeface="Radley"/>
                <a:cs typeface="Radley"/>
                <a:sym typeface="Radley"/>
              </a:rPr>
              <a:t> e</a:t>
            </a:r>
            <a:r>
              <a:rPr lang="en-US" sz="5326" strike="noStrike" u="none">
                <a:solidFill>
                  <a:srgbClr val="604ABD"/>
                </a:solidFill>
                <a:latin typeface="Radley"/>
                <a:ea typeface="Radley"/>
                <a:cs typeface="Radley"/>
                <a:sym typeface="Radley"/>
              </a:rPr>
              <a:t>t </a:t>
            </a:r>
            <a:r>
              <a:rPr lang="en-US" sz="5326" strike="noStrike" u="none">
                <a:solidFill>
                  <a:srgbClr val="604ABD"/>
                </a:solidFill>
                <a:latin typeface="Radley"/>
                <a:ea typeface="Radley"/>
                <a:cs typeface="Radley"/>
                <a:sym typeface="Radley"/>
              </a:rPr>
              <a:t>connex</a:t>
            </a:r>
            <a:r>
              <a:rPr lang="en-US" sz="5326" strike="noStrike" u="none">
                <a:solidFill>
                  <a:srgbClr val="604ABD"/>
                </a:solidFill>
                <a:latin typeface="Radley"/>
                <a:ea typeface="Radley"/>
                <a:cs typeface="Radley"/>
                <a:sym typeface="Radley"/>
              </a:rPr>
              <a:t>i</a:t>
            </a:r>
            <a:r>
              <a:rPr lang="en-US" sz="5326" strike="noStrike" u="none">
                <a:solidFill>
                  <a:srgbClr val="604ABD"/>
                </a:solidFill>
                <a:latin typeface="Radley"/>
                <a:ea typeface="Radley"/>
                <a:cs typeface="Radley"/>
                <a:sym typeface="Radley"/>
              </a:rPr>
              <a:t>o</a:t>
            </a:r>
            <a:r>
              <a:rPr lang="en-US" sz="5326" strike="noStrike" u="none">
                <a:solidFill>
                  <a:srgbClr val="604ABD"/>
                </a:solidFill>
                <a:latin typeface="Radley"/>
                <a:ea typeface="Radley"/>
                <a:cs typeface="Radley"/>
                <a:sym typeface="Radley"/>
              </a:rPr>
              <a:t>n</a:t>
            </a:r>
          </a:p>
          <a:p>
            <a:pPr algn="ctr" marL="0" indent="0" lvl="0">
              <a:lnSpc>
                <a:spcPts val="4101"/>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82955" y="-1813159"/>
            <a:ext cx="22136667" cy="13515802"/>
            <a:chOff x="0" y="0"/>
            <a:chExt cx="29515555" cy="18021069"/>
          </a:xfrm>
        </p:grpSpPr>
        <p:sp>
          <p:nvSpPr>
            <p:cNvPr name="Freeform 3" id="3"/>
            <p:cNvSpPr/>
            <p:nvPr/>
          </p:nvSpPr>
          <p:spPr>
            <a:xfrm flipH="false" flipV="false" rot="-5400000">
              <a:off x="20694528" y="9200041"/>
              <a:ext cx="9712843" cy="7929212"/>
            </a:xfrm>
            <a:custGeom>
              <a:avLst/>
              <a:gdLst/>
              <a:ahLst/>
              <a:cxnLst/>
              <a:rect r="r" b="b" t="t" l="l"/>
              <a:pathLst>
                <a:path h="7929212" w="9712843">
                  <a:moveTo>
                    <a:pt x="0" y="0"/>
                  </a:moveTo>
                  <a:lnTo>
                    <a:pt x="9712843" y="0"/>
                  </a:lnTo>
                  <a:lnTo>
                    <a:pt x="9712843" y="7929212"/>
                  </a:lnTo>
                  <a:lnTo>
                    <a:pt x="0" y="7929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6495484">
              <a:off x="307039" y="10019620"/>
              <a:ext cx="9810905" cy="2550835"/>
            </a:xfrm>
            <a:custGeom>
              <a:avLst/>
              <a:gdLst/>
              <a:ahLst/>
              <a:cxnLst/>
              <a:rect r="r" b="b" t="t" l="l"/>
              <a:pathLst>
                <a:path h="2550835" w="9810905">
                  <a:moveTo>
                    <a:pt x="0" y="0"/>
                  </a:moveTo>
                  <a:lnTo>
                    <a:pt x="9810904" y="0"/>
                  </a:lnTo>
                  <a:lnTo>
                    <a:pt x="9810904" y="2550836"/>
                  </a:lnTo>
                  <a:lnTo>
                    <a:pt x="0" y="25508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045018" y="1045018"/>
              <a:ext cx="11381382" cy="9291346"/>
            </a:xfrm>
            <a:custGeom>
              <a:avLst/>
              <a:gdLst/>
              <a:ahLst/>
              <a:cxnLst/>
              <a:rect r="r" b="b" t="t" l="l"/>
              <a:pathLst>
                <a:path h="9291346" w="11381382">
                  <a:moveTo>
                    <a:pt x="0" y="0"/>
                  </a:moveTo>
                  <a:lnTo>
                    <a:pt x="11381382" y="0"/>
                  </a:lnTo>
                  <a:lnTo>
                    <a:pt x="11381382" y="9291346"/>
                  </a:lnTo>
                  <a:lnTo>
                    <a:pt x="0" y="92913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4700908">
              <a:off x="20645497" y="5898752"/>
              <a:ext cx="9810905" cy="2550835"/>
            </a:xfrm>
            <a:custGeom>
              <a:avLst/>
              <a:gdLst/>
              <a:ahLst/>
              <a:cxnLst/>
              <a:rect r="r" b="b" t="t" l="l"/>
              <a:pathLst>
                <a:path h="2550835" w="9810905">
                  <a:moveTo>
                    <a:pt x="0" y="0"/>
                  </a:moveTo>
                  <a:lnTo>
                    <a:pt x="9810905" y="0"/>
                  </a:lnTo>
                  <a:lnTo>
                    <a:pt x="9810905" y="2550835"/>
                  </a:lnTo>
                  <a:lnTo>
                    <a:pt x="0" y="25508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7" id="7"/>
          <p:cNvSpPr txBox="true"/>
          <p:nvPr/>
        </p:nvSpPr>
        <p:spPr>
          <a:xfrm rot="0">
            <a:off x="2387678" y="3101956"/>
            <a:ext cx="13512643" cy="2801387"/>
          </a:xfrm>
          <a:prstGeom prst="rect">
            <a:avLst/>
          </a:prstGeom>
        </p:spPr>
        <p:txBody>
          <a:bodyPr anchor="t" rtlCol="false" tIns="0" lIns="0" bIns="0" rIns="0">
            <a:spAutoFit/>
          </a:bodyPr>
          <a:lstStyle/>
          <a:p>
            <a:pPr algn="l">
              <a:lnSpc>
                <a:spcPts val="5567"/>
              </a:lnSpc>
              <a:spcBef>
                <a:spcPct val="0"/>
              </a:spcBef>
            </a:pPr>
          </a:p>
          <a:p>
            <a:pPr algn="l">
              <a:lnSpc>
                <a:spcPts val="5567"/>
              </a:lnSpc>
              <a:spcBef>
                <a:spcPct val="0"/>
              </a:spcBef>
            </a:pPr>
            <a:r>
              <a:rPr lang="en-US" b="true" sz="3976">
                <a:solidFill>
                  <a:srgbClr val="665D5A"/>
                </a:solidFill>
                <a:latin typeface="Open Sans Bold"/>
                <a:ea typeface="Open Sans Bold"/>
                <a:cs typeface="Open Sans Bold"/>
                <a:sym typeface="Open Sans Bold"/>
              </a:rPr>
              <a:t> Le visiteur consulte le plan interactif, les 18 places réparties en zones Alpha, Beta et Gamma, ainsi que les tarifs et informations sans inscription.</a:t>
            </a:r>
          </a:p>
        </p:txBody>
      </p:sp>
      <p:sp>
        <p:nvSpPr>
          <p:cNvPr name="TextBox 8" id="8"/>
          <p:cNvSpPr txBox="true"/>
          <p:nvPr/>
        </p:nvSpPr>
        <p:spPr>
          <a:xfrm rot="0">
            <a:off x="17259300" y="9210675"/>
            <a:ext cx="42862" cy="137160"/>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6</a:t>
            </a:r>
          </a:p>
        </p:txBody>
      </p:sp>
      <p:sp>
        <p:nvSpPr>
          <p:cNvPr name="TextBox 9" id="9"/>
          <p:cNvSpPr txBox="true"/>
          <p:nvPr/>
        </p:nvSpPr>
        <p:spPr>
          <a:xfrm rot="0">
            <a:off x="-608402" y="2131361"/>
            <a:ext cx="17867702" cy="595673"/>
          </a:xfrm>
          <a:prstGeom prst="rect">
            <a:avLst/>
          </a:prstGeom>
        </p:spPr>
        <p:txBody>
          <a:bodyPr anchor="t" rtlCol="false" tIns="0" lIns="0" bIns="0" rIns="0">
            <a:spAutoFit/>
          </a:bodyPr>
          <a:lstStyle/>
          <a:p>
            <a:pPr algn="ctr" marL="0" indent="0" lvl="0">
              <a:lnSpc>
                <a:spcPts val="4101"/>
              </a:lnSpc>
              <a:spcBef>
                <a:spcPct val="0"/>
              </a:spcBef>
            </a:pPr>
            <a:r>
              <a:rPr lang="en-US" sz="5326">
                <a:solidFill>
                  <a:srgbClr val="604ABD"/>
                </a:solidFill>
                <a:latin typeface="Radley"/>
                <a:ea typeface="Radley"/>
                <a:cs typeface="Radley"/>
                <a:sym typeface="Radley"/>
              </a:rPr>
              <a:t>2 — C</a:t>
            </a:r>
            <a:r>
              <a:rPr lang="en-US" sz="5326" strike="noStrike" u="none">
                <a:solidFill>
                  <a:srgbClr val="604ABD"/>
                </a:solidFill>
                <a:latin typeface="Radley"/>
                <a:ea typeface="Radley"/>
                <a:cs typeface="Radley"/>
                <a:sym typeface="Radley"/>
              </a:rPr>
              <a:t>on</a:t>
            </a:r>
            <a:r>
              <a:rPr lang="en-US" sz="5326" strike="noStrike" u="none">
                <a:solidFill>
                  <a:srgbClr val="604ABD"/>
                </a:solidFill>
                <a:latin typeface="Radley"/>
                <a:ea typeface="Radley"/>
                <a:cs typeface="Radley"/>
                <a:sym typeface="Radley"/>
              </a:rPr>
              <a:t>sulta</a:t>
            </a:r>
            <a:r>
              <a:rPr lang="en-US" sz="5326" strike="noStrike" u="none">
                <a:solidFill>
                  <a:srgbClr val="604ABD"/>
                </a:solidFill>
                <a:latin typeface="Radley"/>
                <a:ea typeface="Radley"/>
                <a:cs typeface="Radley"/>
                <a:sym typeface="Radley"/>
              </a:rPr>
              <a:t>tion</a:t>
            </a:r>
            <a:r>
              <a:rPr lang="en-US" sz="5326" strike="noStrike" u="none">
                <a:solidFill>
                  <a:srgbClr val="604ABD"/>
                </a:solidFill>
                <a:latin typeface="Radley"/>
                <a:ea typeface="Radley"/>
                <a:cs typeface="Radley"/>
                <a:sym typeface="Radley"/>
              </a:rPr>
              <a:t> de </a:t>
            </a:r>
            <a:r>
              <a:rPr lang="en-US" sz="5326" strike="noStrike" u="none">
                <a:solidFill>
                  <a:srgbClr val="604ABD"/>
                </a:solidFill>
                <a:latin typeface="Radley"/>
                <a:ea typeface="Radley"/>
                <a:cs typeface="Radley"/>
                <a:sym typeface="Radley"/>
              </a:rPr>
              <a:t>l</a:t>
            </a:r>
            <a:r>
              <a:rPr lang="en-US" sz="5326" strike="noStrike" u="none">
                <a:solidFill>
                  <a:srgbClr val="604ABD"/>
                </a:solidFill>
                <a:latin typeface="Radley"/>
                <a:ea typeface="Radley"/>
                <a:cs typeface="Radley"/>
                <a:sym typeface="Radley"/>
              </a:rPr>
              <a:t>’e</a:t>
            </a:r>
            <a:r>
              <a:rPr lang="en-US" sz="5326" strike="noStrike" u="none">
                <a:solidFill>
                  <a:srgbClr val="604ABD"/>
                </a:solidFill>
                <a:latin typeface="Radley"/>
                <a:ea typeface="Radley"/>
                <a:cs typeface="Radley"/>
                <a:sym typeface="Radley"/>
              </a:rPr>
              <a:t>s</a:t>
            </a:r>
            <a:r>
              <a:rPr lang="en-US" sz="5326" strike="noStrike" u="none">
                <a:solidFill>
                  <a:srgbClr val="604ABD"/>
                </a:solidFill>
                <a:latin typeface="Radley"/>
                <a:ea typeface="Radley"/>
                <a:cs typeface="Radley"/>
                <a:sym typeface="Radley"/>
              </a:rPr>
              <a:t>pace</a:t>
            </a:r>
            <a:r>
              <a:rPr lang="en-US" sz="5326" strike="noStrike" u="none">
                <a:solidFill>
                  <a:srgbClr val="604ABD"/>
                </a:solidFill>
                <a:latin typeface="Radley"/>
                <a:ea typeface="Radley"/>
                <a:cs typeface="Radley"/>
                <a:sym typeface="Radley"/>
              </a:rPr>
              <a:t> </a:t>
            </a:r>
            <a:r>
              <a:rPr lang="en-US" sz="5326" strike="noStrike" u="none">
                <a:solidFill>
                  <a:srgbClr val="604ABD"/>
                </a:solidFill>
                <a:latin typeface="Radley"/>
                <a:ea typeface="Radley"/>
                <a:cs typeface="Radley"/>
                <a:sym typeface="Radley"/>
              </a:rPr>
              <a:t>cowo</a:t>
            </a:r>
            <a:r>
              <a:rPr lang="en-US" sz="5326" strike="noStrike" u="none">
                <a:solidFill>
                  <a:srgbClr val="604ABD"/>
                </a:solidFill>
                <a:latin typeface="Radley"/>
                <a:ea typeface="Radley"/>
                <a:cs typeface="Radley"/>
                <a:sym typeface="Radley"/>
              </a:rPr>
              <a:t>r</a:t>
            </a:r>
            <a:r>
              <a:rPr lang="en-US" sz="5326" strike="noStrike" u="none">
                <a:solidFill>
                  <a:srgbClr val="604ABD"/>
                </a:solidFill>
                <a:latin typeface="Radley"/>
                <a:ea typeface="Radley"/>
                <a:cs typeface="Radley"/>
                <a:sym typeface="Radley"/>
              </a:rPr>
              <a:t>k</a:t>
            </a:r>
            <a:r>
              <a:rPr lang="en-US" sz="5326" strike="noStrike" u="none">
                <a:solidFill>
                  <a:srgbClr val="604ABD"/>
                </a:solidFill>
                <a:latin typeface="Radley"/>
                <a:ea typeface="Radley"/>
                <a:cs typeface="Radley"/>
                <a:sym typeface="Radley"/>
              </a:rPr>
              <a:t>in</a:t>
            </a:r>
            <a:r>
              <a:rPr lang="en-US" sz="5326" strike="noStrike" u="none">
                <a:solidFill>
                  <a:srgbClr val="604ABD"/>
                </a:solidFill>
                <a:latin typeface="Radley"/>
                <a:ea typeface="Radley"/>
                <a:cs typeface="Radley"/>
                <a:sym typeface="Radley"/>
              </a:rPr>
              <a:t>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54380" y="-1813159"/>
            <a:ext cx="22136667" cy="13515802"/>
            <a:chOff x="0" y="0"/>
            <a:chExt cx="29515555" cy="18021069"/>
          </a:xfrm>
        </p:grpSpPr>
        <p:sp>
          <p:nvSpPr>
            <p:cNvPr name="Freeform 3" id="3"/>
            <p:cNvSpPr/>
            <p:nvPr/>
          </p:nvSpPr>
          <p:spPr>
            <a:xfrm flipH="false" flipV="false" rot="-5400000">
              <a:off x="20694528" y="9200041"/>
              <a:ext cx="9712843" cy="7929212"/>
            </a:xfrm>
            <a:custGeom>
              <a:avLst/>
              <a:gdLst/>
              <a:ahLst/>
              <a:cxnLst/>
              <a:rect r="r" b="b" t="t" l="l"/>
              <a:pathLst>
                <a:path h="7929212" w="9712843">
                  <a:moveTo>
                    <a:pt x="0" y="0"/>
                  </a:moveTo>
                  <a:lnTo>
                    <a:pt x="9712843" y="0"/>
                  </a:lnTo>
                  <a:lnTo>
                    <a:pt x="9712843" y="7929212"/>
                  </a:lnTo>
                  <a:lnTo>
                    <a:pt x="0" y="7929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6495484">
              <a:off x="307039" y="10019620"/>
              <a:ext cx="9810905" cy="2550835"/>
            </a:xfrm>
            <a:custGeom>
              <a:avLst/>
              <a:gdLst/>
              <a:ahLst/>
              <a:cxnLst/>
              <a:rect r="r" b="b" t="t" l="l"/>
              <a:pathLst>
                <a:path h="2550835" w="9810905">
                  <a:moveTo>
                    <a:pt x="0" y="0"/>
                  </a:moveTo>
                  <a:lnTo>
                    <a:pt x="9810904" y="0"/>
                  </a:lnTo>
                  <a:lnTo>
                    <a:pt x="9810904" y="2550836"/>
                  </a:lnTo>
                  <a:lnTo>
                    <a:pt x="0" y="25508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045018" y="1045018"/>
              <a:ext cx="11381382" cy="9291346"/>
            </a:xfrm>
            <a:custGeom>
              <a:avLst/>
              <a:gdLst/>
              <a:ahLst/>
              <a:cxnLst/>
              <a:rect r="r" b="b" t="t" l="l"/>
              <a:pathLst>
                <a:path h="9291346" w="11381382">
                  <a:moveTo>
                    <a:pt x="0" y="0"/>
                  </a:moveTo>
                  <a:lnTo>
                    <a:pt x="11381382" y="0"/>
                  </a:lnTo>
                  <a:lnTo>
                    <a:pt x="11381382" y="9291346"/>
                  </a:lnTo>
                  <a:lnTo>
                    <a:pt x="0" y="92913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4700908">
              <a:off x="20645497" y="5898752"/>
              <a:ext cx="9810905" cy="2550835"/>
            </a:xfrm>
            <a:custGeom>
              <a:avLst/>
              <a:gdLst/>
              <a:ahLst/>
              <a:cxnLst/>
              <a:rect r="r" b="b" t="t" l="l"/>
              <a:pathLst>
                <a:path h="2550835" w="9810905">
                  <a:moveTo>
                    <a:pt x="0" y="0"/>
                  </a:moveTo>
                  <a:lnTo>
                    <a:pt x="9810905" y="0"/>
                  </a:lnTo>
                  <a:lnTo>
                    <a:pt x="9810905" y="2550835"/>
                  </a:lnTo>
                  <a:lnTo>
                    <a:pt x="0" y="25508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7" id="7"/>
          <p:cNvSpPr txBox="true"/>
          <p:nvPr/>
        </p:nvSpPr>
        <p:spPr>
          <a:xfrm rot="0">
            <a:off x="2778944" y="2800492"/>
            <a:ext cx="13816503" cy="2751857"/>
          </a:xfrm>
          <a:prstGeom prst="rect">
            <a:avLst/>
          </a:prstGeom>
        </p:spPr>
        <p:txBody>
          <a:bodyPr anchor="t" rtlCol="false" tIns="0" lIns="0" bIns="0" rIns="0">
            <a:spAutoFit/>
          </a:bodyPr>
          <a:lstStyle/>
          <a:p>
            <a:pPr algn="l">
              <a:lnSpc>
                <a:spcPts val="5465"/>
              </a:lnSpc>
              <a:spcBef>
                <a:spcPct val="0"/>
              </a:spcBef>
            </a:pPr>
          </a:p>
          <a:p>
            <a:pPr algn="l">
              <a:lnSpc>
                <a:spcPts val="5465"/>
              </a:lnSpc>
              <a:spcBef>
                <a:spcPct val="0"/>
              </a:spcBef>
            </a:pPr>
            <a:r>
              <a:rPr lang="en-US" b="true" sz="3904">
                <a:solidFill>
                  <a:srgbClr val="665D5A"/>
                </a:solidFill>
                <a:latin typeface="Open Sans Bold"/>
                <a:ea typeface="Open Sans Bold"/>
                <a:cs typeface="Open Sans Bold"/>
                <a:sym typeface="Open Sans Bold"/>
              </a:rPr>
              <a:t> L’utilisateur choisit une place libre, définit la date et la durée. L’heure de fin est calculée automatiquement et la disponibilité est mise à jour en temps réel.</a:t>
            </a:r>
          </a:p>
        </p:txBody>
      </p:sp>
      <p:sp>
        <p:nvSpPr>
          <p:cNvPr name="TextBox 8" id="8"/>
          <p:cNvSpPr txBox="true"/>
          <p:nvPr/>
        </p:nvSpPr>
        <p:spPr>
          <a:xfrm rot="0">
            <a:off x="17259300" y="9210675"/>
            <a:ext cx="42862" cy="137160"/>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7</a:t>
            </a:r>
          </a:p>
        </p:txBody>
      </p:sp>
      <p:sp>
        <p:nvSpPr>
          <p:cNvPr name="TextBox 9" id="9"/>
          <p:cNvSpPr txBox="true"/>
          <p:nvPr/>
        </p:nvSpPr>
        <p:spPr>
          <a:xfrm rot="0">
            <a:off x="-1811577" y="1841572"/>
            <a:ext cx="17867702" cy="595673"/>
          </a:xfrm>
          <a:prstGeom prst="rect">
            <a:avLst/>
          </a:prstGeom>
        </p:spPr>
        <p:txBody>
          <a:bodyPr anchor="t" rtlCol="false" tIns="0" lIns="0" bIns="0" rIns="0">
            <a:spAutoFit/>
          </a:bodyPr>
          <a:lstStyle/>
          <a:p>
            <a:pPr algn="ctr" marL="0" indent="0" lvl="0">
              <a:lnSpc>
                <a:spcPts val="4101"/>
              </a:lnSpc>
              <a:spcBef>
                <a:spcPct val="0"/>
              </a:spcBef>
            </a:pPr>
            <a:r>
              <a:rPr lang="en-US" sz="5326">
                <a:solidFill>
                  <a:srgbClr val="604ABD"/>
                </a:solidFill>
                <a:latin typeface="Radley"/>
                <a:ea typeface="Radley"/>
                <a:cs typeface="Radley"/>
                <a:sym typeface="Radley"/>
              </a:rPr>
              <a:t>3 — Réserva</a:t>
            </a:r>
            <a:r>
              <a:rPr lang="en-US" sz="5326" strike="noStrike" u="none">
                <a:solidFill>
                  <a:srgbClr val="604ABD"/>
                </a:solidFill>
                <a:latin typeface="Radley"/>
                <a:ea typeface="Radley"/>
                <a:cs typeface="Radley"/>
                <a:sym typeface="Radley"/>
              </a:rPr>
              <a:t>tion</a:t>
            </a:r>
            <a:r>
              <a:rPr lang="en-US" sz="5326" strike="noStrike" u="none">
                <a:solidFill>
                  <a:srgbClr val="604ABD"/>
                </a:solidFill>
                <a:latin typeface="Radley"/>
                <a:ea typeface="Radley"/>
                <a:cs typeface="Radley"/>
                <a:sym typeface="Radley"/>
              </a:rPr>
              <a:t> e</a:t>
            </a:r>
            <a:r>
              <a:rPr lang="en-US" sz="5326" strike="noStrike" u="none">
                <a:solidFill>
                  <a:srgbClr val="604ABD"/>
                </a:solidFill>
                <a:latin typeface="Radley"/>
                <a:ea typeface="Radley"/>
                <a:cs typeface="Radley"/>
                <a:sym typeface="Radley"/>
              </a:rPr>
              <a:t>n</a:t>
            </a:r>
            <a:r>
              <a:rPr lang="en-US" sz="5326" strike="noStrike" u="none">
                <a:solidFill>
                  <a:srgbClr val="604ABD"/>
                </a:solidFill>
                <a:latin typeface="Radley"/>
                <a:ea typeface="Radley"/>
                <a:cs typeface="Radley"/>
                <a:sym typeface="Radley"/>
              </a:rPr>
              <a:t> </a:t>
            </a:r>
            <a:r>
              <a:rPr lang="en-US" sz="5326" strike="noStrike" u="none">
                <a:solidFill>
                  <a:srgbClr val="604ABD"/>
                </a:solidFill>
                <a:latin typeface="Radley"/>
                <a:ea typeface="Radley"/>
                <a:cs typeface="Radley"/>
                <a:sym typeface="Radley"/>
              </a:rPr>
              <a:t>li</a:t>
            </a:r>
            <a:r>
              <a:rPr lang="en-US" sz="5326" strike="noStrike" u="none">
                <a:solidFill>
                  <a:srgbClr val="604ABD"/>
                </a:solidFill>
                <a:latin typeface="Radley"/>
                <a:ea typeface="Radley"/>
                <a:cs typeface="Radley"/>
                <a:sym typeface="Radley"/>
              </a:rPr>
              <a:t>g</a:t>
            </a:r>
            <a:r>
              <a:rPr lang="en-US" sz="5326" strike="noStrike" u="none">
                <a:solidFill>
                  <a:srgbClr val="604ABD"/>
                </a:solidFill>
                <a:latin typeface="Radley"/>
                <a:ea typeface="Radley"/>
                <a:cs typeface="Radley"/>
                <a:sym typeface="Radley"/>
              </a:rPr>
              <a:t>ne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82955" y="-1813159"/>
            <a:ext cx="22136667" cy="13515802"/>
            <a:chOff x="0" y="0"/>
            <a:chExt cx="29515555" cy="18021069"/>
          </a:xfrm>
        </p:grpSpPr>
        <p:sp>
          <p:nvSpPr>
            <p:cNvPr name="Freeform 3" id="3"/>
            <p:cNvSpPr/>
            <p:nvPr/>
          </p:nvSpPr>
          <p:spPr>
            <a:xfrm flipH="false" flipV="false" rot="-5400000">
              <a:off x="20694528" y="9200041"/>
              <a:ext cx="9712843" cy="7929212"/>
            </a:xfrm>
            <a:custGeom>
              <a:avLst/>
              <a:gdLst/>
              <a:ahLst/>
              <a:cxnLst/>
              <a:rect r="r" b="b" t="t" l="l"/>
              <a:pathLst>
                <a:path h="7929212" w="9712843">
                  <a:moveTo>
                    <a:pt x="0" y="0"/>
                  </a:moveTo>
                  <a:lnTo>
                    <a:pt x="9712843" y="0"/>
                  </a:lnTo>
                  <a:lnTo>
                    <a:pt x="9712843" y="7929212"/>
                  </a:lnTo>
                  <a:lnTo>
                    <a:pt x="0" y="7929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6495484">
              <a:off x="307039" y="10019620"/>
              <a:ext cx="9810905" cy="2550835"/>
            </a:xfrm>
            <a:custGeom>
              <a:avLst/>
              <a:gdLst/>
              <a:ahLst/>
              <a:cxnLst/>
              <a:rect r="r" b="b" t="t" l="l"/>
              <a:pathLst>
                <a:path h="2550835" w="9810905">
                  <a:moveTo>
                    <a:pt x="0" y="0"/>
                  </a:moveTo>
                  <a:lnTo>
                    <a:pt x="9810904" y="0"/>
                  </a:lnTo>
                  <a:lnTo>
                    <a:pt x="9810904" y="2550836"/>
                  </a:lnTo>
                  <a:lnTo>
                    <a:pt x="0" y="25508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045018" y="1045018"/>
              <a:ext cx="11381382" cy="9291346"/>
            </a:xfrm>
            <a:custGeom>
              <a:avLst/>
              <a:gdLst/>
              <a:ahLst/>
              <a:cxnLst/>
              <a:rect r="r" b="b" t="t" l="l"/>
              <a:pathLst>
                <a:path h="9291346" w="11381382">
                  <a:moveTo>
                    <a:pt x="0" y="0"/>
                  </a:moveTo>
                  <a:lnTo>
                    <a:pt x="11381382" y="0"/>
                  </a:lnTo>
                  <a:lnTo>
                    <a:pt x="11381382" y="9291346"/>
                  </a:lnTo>
                  <a:lnTo>
                    <a:pt x="0" y="92913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4700908">
              <a:off x="20645497" y="5898752"/>
              <a:ext cx="9810905" cy="2550835"/>
            </a:xfrm>
            <a:custGeom>
              <a:avLst/>
              <a:gdLst/>
              <a:ahLst/>
              <a:cxnLst/>
              <a:rect r="r" b="b" t="t" l="l"/>
              <a:pathLst>
                <a:path h="2550835" w="9810905">
                  <a:moveTo>
                    <a:pt x="0" y="0"/>
                  </a:moveTo>
                  <a:lnTo>
                    <a:pt x="9810905" y="0"/>
                  </a:lnTo>
                  <a:lnTo>
                    <a:pt x="9810905" y="2550835"/>
                  </a:lnTo>
                  <a:lnTo>
                    <a:pt x="0" y="25508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7" id="7"/>
          <p:cNvSpPr txBox="true"/>
          <p:nvPr/>
        </p:nvSpPr>
        <p:spPr>
          <a:xfrm rot="0">
            <a:off x="17259300" y="9210675"/>
            <a:ext cx="254198" cy="577851"/>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8</a:t>
            </a:r>
          </a:p>
        </p:txBody>
      </p:sp>
      <p:sp>
        <p:nvSpPr>
          <p:cNvPr name="TextBox 8" id="8"/>
          <p:cNvSpPr txBox="true"/>
          <p:nvPr/>
        </p:nvSpPr>
        <p:spPr>
          <a:xfrm rot="0">
            <a:off x="2481767" y="3457522"/>
            <a:ext cx="13915951" cy="3414985"/>
          </a:xfrm>
          <a:prstGeom prst="rect">
            <a:avLst/>
          </a:prstGeom>
        </p:spPr>
        <p:txBody>
          <a:bodyPr anchor="t" rtlCol="false" tIns="0" lIns="0" bIns="0" rIns="0">
            <a:spAutoFit/>
          </a:bodyPr>
          <a:lstStyle/>
          <a:p>
            <a:pPr algn="l">
              <a:lnSpc>
                <a:spcPts val="5418"/>
              </a:lnSpc>
              <a:spcBef>
                <a:spcPct val="0"/>
              </a:spcBef>
            </a:pPr>
            <a:r>
              <a:rPr lang="en-US" b="true" sz="3870">
                <a:solidFill>
                  <a:srgbClr val="665D5A"/>
                </a:solidFill>
                <a:latin typeface="Open Sans Bold"/>
                <a:ea typeface="Open Sans Bold"/>
                <a:cs typeface="Open Sans Bold"/>
                <a:sym typeface="Open Sans Bold"/>
              </a:rPr>
              <a:t> Au moment de la réservation, le client choisit sa boisson préférée parmi les options disponibles — café, thé ou jus — qui sera préparée et servie à son arrivée, pour une expérience personnalisée et sans attente.</a:t>
            </a:r>
          </a:p>
          <a:p>
            <a:pPr algn="ctr">
              <a:lnSpc>
                <a:spcPts val="5418"/>
              </a:lnSpc>
              <a:spcBef>
                <a:spcPct val="0"/>
              </a:spcBef>
            </a:pPr>
          </a:p>
        </p:txBody>
      </p:sp>
      <p:sp>
        <p:nvSpPr>
          <p:cNvPr name="TextBox 9" id="9"/>
          <p:cNvSpPr txBox="true"/>
          <p:nvPr/>
        </p:nvSpPr>
        <p:spPr>
          <a:xfrm rot="0">
            <a:off x="-1469984" y="1276350"/>
            <a:ext cx="17867702" cy="1756452"/>
          </a:xfrm>
          <a:prstGeom prst="rect">
            <a:avLst/>
          </a:prstGeom>
        </p:spPr>
        <p:txBody>
          <a:bodyPr anchor="t" rtlCol="false" tIns="0" lIns="0" bIns="0" rIns="0">
            <a:spAutoFit/>
          </a:bodyPr>
          <a:lstStyle/>
          <a:p>
            <a:pPr algn="ctr">
              <a:lnSpc>
                <a:spcPts val="4486"/>
              </a:lnSpc>
            </a:pPr>
          </a:p>
          <a:p>
            <a:pPr algn="ctr" marL="0" indent="0" lvl="0">
              <a:lnSpc>
                <a:spcPts val="4486"/>
              </a:lnSpc>
              <a:spcBef>
                <a:spcPct val="0"/>
              </a:spcBef>
            </a:pPr>
            <a:r>
              <a:rPr lang="en-US" sz="5826">
                <a:solidFill>
                  <a:srgbClr val="604ABD"/>
                </a:solidFill>
                <a:latin typeface="Radley"/>
                <a:ea typeface="Radley"/>
                <a:cs typeface="Radley"/>
                <a:sym typeface="Radley"/>
              </a:rPr>
              <a:t>4 — Séle</a:t>
            </a:r>
            <a:r>
              <a:rPr lang="en-US" sz="5826" strike="noStrike" u="none">
                <a:solidFill>
                  <a:srgbClr val="604ABD"/>
                </a:solidFill>
                <a:latin typeface="Radley"/>
                <a:ea typeface="Radley"/>
                <a:cs typeface="Radley"/>
                <a:sym typeface="Radley"/>
              </a:rPr>
              <a:t>ction</a:t>
            </a:r>
            <a:r>
              <a:rPr lang="en-US" sz="5826" strike="noStrike" u="none">
                <a:solidFill>
                  <a:srgbClr val="604ABD"/>
                </a:solidFill>
                <a:latin typeface="Radley"/>
                <a:ea typeface="Radley"/>
                <a:cs typeface="Radley"/>
                <a:sym typeface="Radley"/>
              </a:rPr>
              <a:t> de l</a:t>
            </a:r>
            <a:r>
              <a:rPr lang="en-US" sz="5826" strike="noStrike" u="none">
                <a:solidFill>
                  <a:srgbClr val="604ABD"/>
                </a:solidFill>
                <a:latin typeface="Radley"/>
                <a:ea typeface="Radley"/>
                <a:cs typeface="Radley"/>
                <a:sym typeface="Radley"/>
              </a:rPr>
              <a:t>a</a:t>
            </a:r>
            <a:r>
              <a:rPr lang="en-US" sz="5826" strike="noStrike" u="none">
                <a:solidFill>
                  <a:srgbClr val="604ABD"/>
                </a:solidFill>
                <a:latin typeface="Radley"/>
                <a:ea typeface="Radley"/>
                <a:cs typeface="Radley"/>
                <a:sym typeface="Radley"/>
              </a:rPr>
              <a:t> bo</a:t>
            </a:r>
            <a:r>
              <a:rPr lang="en-US" sz="5826" strike="noStrike" u="none">
                <a:solidFill>
                  <a:srgbClr val="604ABD"/>
                </a:solidFill>
                <a:latin typeface="Radley"/>
                <a:ea typeface="Radley"/>
                <a:cs typeface="Radley"/>
                <a:sym typeface="Radley"/>
              </a:rPr>
              <a:t>is</a:t>
            </a:r>
            <a:r>
              <a:rPr lang="en-US" sz="5826" strike="noStrike" u="none">
                <a:solidFill>
                  <a:srgbClr val="604ABD"/>
                </a:solidFill>
                <a:latin typeface="Radley"/>
                <a:ea typeface="Radley"/>
                <a:cs typeface="Radley"/>
                <a:sym typeface="Radley"/>
              </a:rPr>
              <a:t>so</a:t>
            </a:r>
            <a:r>
              <a:rPr lang="en-US" sz="5826" strike="noStrike" u="none">
                <a:solidFill>
                  <a:srgbClr val="604ABD"/>
                </a:solidFill>
                <a:latin typeface="Radley"/>
                <a:ea typeface="Radley"/>
                <a:cs typeface="Radley"/>
                <a:sym typeface="Radley"/>
              </a:rPr>
              <a:t>n</a:t>
            </a:r>
          </a:p>
          <a:p>
            <a:pPr algn="ctr" marL="0" indent="0" lvl="0">
              <a:lnSpc>
                <a:spcPts val="4486"/>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82955" y="-1813159"/>
            <a:ext cx="22136667" cy="13515802"/>
            <a:chOff x="0" y="0"/>
            <a:chExt cx="29515555" cy="18021069"/>
          </a:xfrm>
        </p:grpSpPr>
        <p:sp>
          <p:nvSpPr>
            <p:cNvPr name="Freeform 3" id="3"/>
            <p:cNvSpPr/>
            <p:nvPr/>
          </p:nvSpPr>
          <p:spPr>
            <a:xfrm flipH="false" flipV="false" rot="-5400000">
              <a:off x="20694528" y="9200041"/>
              <a:ext cx="9712843" cy="7929212"/>
            </a:xfrm>
            <a:custGeom>
              <a:avLst/>
              <a:gdLst/>
              <a:ahLst/>
              <a:cxnLst/>
              <a:rect r="r" b="b" t="t" l="l"/>
              <a:pathLst>
                <a:path h="7929212" w="9712843">
                  <a:moveTo>
                    <a:pt x="0" y="0"/>
                  </a:moveTo>
                  <a:lnTo>
                    <a:pt x="9712843" y="0"/>
                  </a:lnTo>
                  <a:lnTo>
                    <a:pt x="9712843" y="7929212"/>
                  </a:lnTo>
                  <a:lnTo>
                    <a:pt x="0" y="7929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6495484">
              <a:off x="307039" y="10019620"/>
              <a:ext cx="9810905" cy="2550835"/>
            </a:xfrm>
            <a:custGeom>
              <a:avLst/>
              <a:gdLst/>
              <a:ahLst/>
              <a:cxnLst/>
              <a:rect r="r" b="b" t="t" l="l"/>
              <a:pathLst>
                <a:path h="2550835" w="9810905">
                  <a:moveTo>
                    <a:pt x="0" y="0"/>
                  </a:moveTo>
                  <a:lnTo>
                    <a:pt x="9810904" y="0"/>
                  </a:lnTo>
                  <a:lnTo>
                    <a:pt x="9810904" y="2550836"/>
                  </a:lnTo>
                  <a:lnTo>
                    <a:pt x="0" y="25508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045018" y="1045018"/>
              <a:ext cx="11381382" cy="9291346"/>
            </a:xfrm>
            <a:custGeom>
              <a:avLst/>
              <a:gdLst/>
              <a:ahLst/>
              <a:cxnLst/>
              <a:rect r="r" b="b" t="t" l="l"/>
              <a:pathLst>
                <a:path h="9291346" w="11381382">
                  <a:moveTo>
                    <a:pt x="0" y="0"/>
                  </a:moveTo>
                  <a:lnTo>
                    <a:pt x="11381382" y="0"/>
                  </a:lnTo>
                  <a:lnTo>
                    <a:pt x="11381382" y="9291346"/>
                  </a:lnTo>
                  <a:lnTo>
                    <a:pt x="0" y="92913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4700908">
              <a:off x="20645497" y="5898752"/>
              <a:ext cx="9810905" cy="2550835"/>
            </a:xfrm>
            <a:custGeom>
              <a:avLst/>
              <a:gdLst/>
              <a:ahLst/>
              <a:cxnLst/>
              <a:rect r="r" b="b" t="t" l="l"/>
              <a:pathLst>
                <a:path h="2550835" w="9810905">
                  <a:moveTo>
                    <a:pt x="0" y="0"/>
                  </a:moveTo>
                  <a:lnTo>
                    <a:pt x="9810905" y="0"/>
                  </a:lnTo>
                  <a:lnTo>
                    <a:pt x="9810905" y="2550835"/>
                  </a:lnTo>
                  <a:lnTo>
                    <a:pt x="0" y="25508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7" id="7"/>
          <p:cNvSpPr txBox="true"/>
          <p:nvPr/>
        </p:nvSpPr>
        <p:spPr>
          <a:xfrm rot="0">
            <a:off x="17259300" y="9210675"/>
            <a:ext cx="254198" cy="577851"/>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9</a:t>
            </a:r>
          </a:p>
        </p:txBody>
      </p:sp>
      <p:sp>
        <p:nvSpPr>
          <p:cNvPr name="TextBox 8" id="8"/>
          <p:cNvSpPr txBox="true"/>
          <p:nvPr/>
        </p:nvSpPr>
        <p:spPr>
          <a:xfrm rot="0">
            <a:off x="2619073" y="3283845"/>
            <a:ext cx="13049854" cy="4850851"/>
          </a:xfrm>
          <a:prstGeom prst="rect">
            <a:avLst/>
          </a:prstGeom>
        </p:spPr>
        <p:txBody>
          <a:bodyPr anchor="t" rtlCol="false" tIns="0" lIns="0" bIns="0" rIns="0">
            <a:spAutoFit/>
          </a:bodyPr>
          <a:lstStyle/>
          <a:p>
            <a:pPr algn="l">
              <a:lnSpc>
                <a:spcPts val="5488"/>
              </a:lnSpc>
              <a:spcBef>
                <a:spcPct val="0"/>
              </a:spcBef>
            </a:pPr>
            <a:r>
              <a:rPr lang="en-US" b="true" sz="3920">
                <a:solidFill>
                  <a:srgbClr val="665D5A"/>
                </a:solidFill>
                <a:latin typeface="Open Sans Bold"/>
                <a:ea typeface="Open Sans Bold"/>
                <a:cs typeface="Open Sans Bold"/>
                <a:sym typeface="Open Sans Bold"/>
              </a:rPr>
              <a:t> L'administrateur dispose d'un tableau de bord complet lui permettant de consulter l'ensemble des réservations, de les filtrer par place ou par date, et de suivre en direct les statistiques clés : nombre total de réservations, réservations du jour et places distinctes réservées.</a:t>
            </a:r>
          </a:p>
          <a:p>
            <a:pPr algn="ctr">
              <a:lnSpc>
                <a:spcPts val="5488"/>
              </a:lnSpc>
              <a:spcBef>
                <a:spcPct val="0"/>
              </a:spcBef>
            </a:pPr>
          </a:p>
        </p:txBody>
      </p:sp>
      <p:sp>
        <p:nvSpPr>
          <p:cNvPr name="TextBox 9" id="9"/>
          <p:cNvSpPr txBox="true"/>
          <p:nvPr/>
        </p:nvSpPr>
        <p:spPr>
          <a:xfrm rot="0">
            <a:off x="-565540" y="2165567"/>
            <a:ext cx="17867702" cy="1194477"/>
          </a:xfrm>
          <a:prstGeom prst="rect">
            <a:avLst/>
          </a:prstGeom>
        </p:spPr>
        <p:txBody>
          <a:bodyPr anchor="t" rtlCol="false" tIns="0" lIns="0" bIns="0" rIns="0">
            <a:spAutoFit/>
          </a:bodyPr>
          <a:lstStyle/>
          <a:p>
            <a:pPr algn="ctr" marL="0" indent="0" lvl="0">
              <a:lnSpc>
                <a:spcPts val="4486"/>
              </a:lnSpc>
              <a:spcBef>
                <a:spcPct val="0"/>
              </a:spcBef>
            </a:pPr>
            <a:r>
              <a:rPr lang="en-US" sz="5826">
                <a:solidFill>
                  <a:srgbClr val="604ABD"/>
                </a:solidFill>
                <a:latin typeface="Radley"/>
                <a:ea typeface="Radley"/>
                <a:cs typeface="Radley"/>
                <a:sym typeface="Radley"/>
              </a:rPr>
              <a:t>5 — Ges</a:t>
            </a:r>
            <a:r>
              <a:rPr lang="en-US" sz="5826" strike="noStrike" u="none">
                <a:solidFill>
                  <a:srgbClr val="604ABD"/>
                </a:solidFill>
                <a:latin typeface="Radley"/>
                <a:ea typeface="Radley"/>
                <a:cs typeface="Radley"/>
                <a:sym typeface="Radley"/>
              </a:rPr>
              <a:t>tion</a:t>
            </a:r>
            <a:r>
              <a:rPr lang="en-US" sz="5826" strike="noStrike" u="none">
                <a:solidFill>
                  <a:srgbClr val="604ABD"/>
                </a:solidFill>
                <a:latin typeface="Radley"/>
                <a:ea typeface="Radley"/>
                <a:cs typeface="Radley"/>
                <a:sym typeface="Radley"/>
              </a:rPr>
              <a:t> et suiv</a:t>
            </a:r>
            <a:r>
              <a:rPr lang="en-US" sz="5826" strike="noStrike" u="none">
                <a:solidFill>
                  <a:srgbClr val="604ABD"/>
                </a:solidFill>
                <a:latin typeface="Radley"/>
                <a:ea typeface="Radley"/>
                <a:cs typeface="Radley"/>
                <a:sym typeface="Radley"/>
              </a:rPr>
              <a:t>i</a:t>
            </a:r>
            <a:r>
              <a:rPr lang="en-US" sz="5826" strike="noStrike" u="none">
                <a:solidFill>
                  <a:srgbClr val="604ABD"/>
                </a:solidFill>
                <a:latin typeface="Radley"/>
                <a:ea typeface="Radley"/>
                <a:cs typeface="Radley"/>
                <a:sym typeface="Radley"/>
              </a:rPr>
              <a:t> des r</a:t>
            </a:r>
            <a:r>
              <a:rPr lang="en-US" sz="5826" strike="noStrike" u="none">
                <a:solidFill>
                  <a:srgbClr val="604ABD"/>
                </a:solidFill>
                <a:latin typeface="Radley"/>
                <a:ea typeface="Radley"/>
                <a:cs typeface="Radley"/>
                <a:sym typeface="Radley"/>
              </a:rPr>
              <a:t>és</a:t>
            </a:r>
            <a:r>
              <a:rPr lang="en-US" sz="5826" strike="noStrike" u="none">
                <a:solidFill>
                  <a:srgbClr val="604ABD"/>
                </a:solidFill>
                <a:latin typeface="Radley"/>
                <a:ea typeface="Radley"/>
                <a:cs typeface="Radley"/>
                <a:sym typeface="Radley"/>
              </a:rPr>
              <a:t>e</a:t>
            </a:r>
            <a:r>
              <a:rPr lang="en-US" sz="5826" strike="noStrike" u="none">
                <a:solidFill>
                  <a:srgbClr val="604ABD"/>
                </a:solidFill>
                <a:latin typeface="Radley"/>
                <a:ea typeface="Radley"/>
                <a:cs typeface="Radley"/>
                <a:sym typeface="Radley"/>
              </a:rPr>
              <a:t>r</a:t>
            </a:r>
            <a:r>
              <a:rPr lang="en-US" sz="5826" strike="noStrike" u="none">
                <a:solidFill>
                  <a:srgbClr val="604ABD"/>
                </a:solidFill>
                <a:latin typeface="Radley"/>
                <a:ea typeface="Radley"/>
                <a:cs typeface="Radley"/>
                <a:sym typeface="Radley"/>
              </a:rPr>
              <a:t>vat</a:t>
            </a:r>
            <a:r>
              <a:rPr lang="en-US" sz="5826" strike="noStrike" u="none">
                <a:solidFill>
                  <a:srgbClr val="604ABD"/>
                </a:solidFill>
                <a:latin typeface="Radley"/>
                <a:ea typeface="Radley"/>
                <a:cs typeface="Radley"/>
                <a:sym typeface="Radley"/>
              </a:rPr>
              <a:t>i</a:t>
            </a:r>
            <a:r>
              <a:rPr lang="en-US" sz="5826" strike="noStrike" u="none">
                <a:solidFill>
                  <a:srgbClr val="604ABD"/>
                </a:solidFill>
                <a:latin typeface="Radley"/>
                <a:ea typeface="Radley"/>
                <a:cs typeface="Radley"/>
                <a:sym typeface="Radley"/>
              </a:rPr>
              <a:t>o</a:t>
            </a:r>
            <a:r>
              <a:rPr lang="en-US" sz="5826" strike="noStrike" u="none">
                <a:solidFill>
                  <a:srgbClr val="604ABD"/>
                </a:solidFill>
                <a:latin typeface="Radley"/>
                <a:ea typeface="Radley"/>
                <a:cs typeface="Radley"/>
                <a:sym typeface="Radley"/>
              </a:rPr>
              <a:t>ns</a:t>
            </a:r>
          </a:p>
          <a:p>
            <a:pPr algn="ctr" marL="0" indent="0" lvl="0">
              <a:lnSpc>
                <a:spcPts val="4486"/>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13246" y="4859702"/>
            <a:ext cx="17867702" cy="900970"/>
          </a:xfrm>
          <a:prstGeom prst="rect">
            <a:avLst/>
          </a:prstGeom>
        </p:spPr>
        <p:txBody>
          <a:bodyPr anchor="t" rtlCol="false" tIns="0" lIns="0" bIns="0" rIns="0">
            <a:spAutoFit/>
          </a:bodyPr>
          <a:lstStyle/>
          <a:p>
            <a:pPr algn="ctr" marL="0" indent="0" lvl="0">
              <a:lnSpc>
                <a:spcPts val="6257"/>
              </a:lnSpc>
              <a:spcBef>
                <a:spcPct val="0"/>
              </a:spcBef>
            </a:pPr>
            <a:r>
              <a:rPr lang="en-US" sz="8126" strike="noStrike" u="none">
                <a:solidFill>
                  <a:srgbClr val="D49E26"/>
                </a:solidFill>
                <a:latin typeface="Radley"/>
                <a:ea typeface="Radley"/>
                <a:cs typeface="Radley"/>
                <a:sym typeface="Radley"/>
              </a:rPr>
              <a:t>Parcours utilisateur</a:t>
            </a:r>
          </a:p>
        </p:txBody>
      </p:sp>
      <p:sp>
        <p:nvSpPr>
          <p:cNvPr name="TextBox 3" id="3"/>
          <p:cNvSpPr txBox="true"/>
          <p:nvPr/>
        </p:nvSpPr>
        <p:spPr>
          <a:xfrm rot="0">
            <a:off x="17259300" y="9210675"/>
            <a:ext cx="254198" cy="577851"/>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10</a:t>
            </a:r>
          </a:p>
        </p:txBody>
      </p:sp>
      <p:grpSp>
        <p:nvGrpSpPr>
          <p:cNvPr name="Group 4" id="4"/>
          <p:cNvGrpSpPr/>
          <p:nvPr/>
        </p:nvGrpSpPr>
        <p:grpSpPr>
          <a:xfrm rot="0">
            <a:off x="-2182955" y="-1813159"/>
            <a:ext cx="22136667" cy="13515802"/>
            <a:chOff x="0" y="0"/>
            <a:chExt cx="29515555" cy="18021069"/>
          </a:xfrm>
        </p:grpSpPr>
        <p:sp>
          <p:nvSpPr>
            <p:cNvPr name="Freeform 5" id="5"/>
            <p:cNvSpPr/>
            <p:nvPr/>
          </p:nvSpPr>
          <p:spPr>
            <a:xfrm flipH="false" flipV="false" rot="-5400000">
              <a:off x="20694528" y="9200041"/>
              <a:ext cx="9712843" cy="7929212"/>
            </a:xfrm>
            <a:custGeom>
              <a:avLst/>
              <a:gdLst/>
              <a:ahLst/>
              <a:cxnLst/>
              <a:rect r="r" b="b" t="t" l="l"/>
              <a:pathLst>
                <a:path h="7929212" w="9712843">
                  <a:moveTo>
                    <a:pt x="0" y="0"/>
                  </a:moveTo>
                  <a:lnTo>
                    <a:pt x="9712843" y="0"/>
                  </a:lnTo>
                  <a:lnTo>
                    <a:pt x="9712843" y="7929212"/>
                  </a:lnTo>
                  <a:lnTo>
                    <a:pt x="0" y="7929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6495484">
              <a:off x="307039" y="10019620"/>
              <a:ext cx="9810905" cy="2550835"/>
            </a:xfrm>
            <a:custGeom>
              <a:avLst/>
              <a:gdLst/>
              <a:ahLst/>
              <a:cxnLst/>
              <a:rect r="r" b="b" t="t" l="l"/>
              <a:pathLst>
                <a:path h="2550835" w="9810905">
                  <a:moveTo>
                    <a:pt x="0" y="0"/>
                  </a:moveTo>
                  <a:lnTo>
                    <a:pt x="9810904" y="0"/>
                  </a:lnTo>
                  <a:lnTo>
                    <a:pt x="9810904" y="2550836"/>
                  </a:lnTo>
                  <a:lnTo>
                    <a:pt x="0" y="25508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400000">
              <a:off x="-1045018" y="1045018"/>
              <a:ext cx="11381382" cy="9291346"/>
            </a:xfrm>
            <a:custGeom>
              <a:avLst/>
              <a:gdLst/>
              <a:ahLst/>
              <a:cxnLst/>
              <a:rect r="r" b="b" t="t" l="l"/>
              <a:pathLst>
                <a:path h="9291346" w="11381382">
                  <a:moveTo>
                    <a:pt x="0" y="0"/>
                  </a:moveTo>
                  <a:lnTo>
                    <a:pt x="11381382" y="0"/>
                  </a:lnTo>
                  <a:lnTo>
                    <a:pt x="11381382" y="9291346"/>
                  </a:lnTo>
                  <a:lnTo>
                    <a:pt x="0" y="92913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4700908">
              <a:off x="20645497" y="5898752"/>
              <a:ext cx="9810905" cy="2550835"/>
            </a:xfrm>
            <a:custGeom>
              <a:avLst/>
              <a:gdLst/>
              <a:ahLst/>
              <a:cxnLst/>
              <a:rect r="r" b="b" t="t" l="l"/>
              <a:pathLst>
                <a:path h="2550835" w="9810905">
                  <a:moveTo>
                    <a:pt x="0" y="0"/>
                  </a:moveTo>
                  <a:lnTo>
                    <a:pt x="9810905" y="0"/>
                  </a:lnTo>
                  <a:lnTo>
                    <a:pt x="9810905" y="2550835"/>
                  </a:lnTo>
                  <a:lnTo>
                    <a:pt x="0" y="25508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562848" y="188440"/>
            <a:ext cx="697483" cy="174371"/>
          </a:xfrm>
          <a:custGeom>
            <a:avLst/>
            <a:gdLst/>
            <a:ahLst/>
            <a:cxnLst/>
            <a:rect r="r" b="b" t="t" l="l"/>
            <a:pathLst>
              <a:path h="174371" w="697483">
                <a:moveTo>
                  <a:pt x="0" y="0"/>
                </a:moveTo>
                <a:lnTo>
                  <a:pt x="697483" y="0"/>
                </a:lnTo>
                <a:lnTo>
                  <a:pt x="697483" y="174371"/>
                </a:lnTo>
                <a:lnTo>
                  <a:pt x="0" y="1743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350924" y="1194515"/>
            <a:ext cx="601132" cy="1049596"/>
          </a:xfrm>
          <a:custGeom>
            <a:avLst/>
            <a:gdLst/>
            <a:ahLst/>
            <a:cxnLst/>
            <a:rect r="r" b="b" t="t" l="l"/>
            <a:pathLst>
              <a:path h="1049596" w="601132">
                <a:moveTo>
                  <a:pt x="0" y="0"/>
                </a:moveTo>
                <a:lnTo>
                  <a:pt x="601132" y="0"/>
                </a:lnTo>
                <a:lnTo>
                  <a:pt x="601132" y="1049596"/>
                </a:lnTo>
                <a:lnTo>
                  <a:pt x="0" y="10495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9D8D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551251"/>
            <a:chOff x="0" y="0"/>
            <a:chExt cx="4816593" cy="145185"/>
          </a:xfrm>
        </p:grpSpPr>
        <p:sp>
          <p:nvSpPr>
            <p:cNvPr name="Freeform 3" id="3"/>
            <p:cNvSpPr/>
            <p:nvPr/>
          </p:nvSpPr>
          <p:spPr>
            <a:xfrm flipH="false" flipV="false" rot="0">
              <a:off x="0" y="0"/>
              <a:ext cx="4816592" cy="145185"/>
            </a:xfrm>
            <a:custGeom>
              <a:avLst/>
              <a:gdLst/>
              <a:ahLst/>
              <a:cxnLst/>
              <a:rect r="r" b="b" t="t" l="l"/>
              <a:pathLst>
                <a:path h="145185" w="4816592">
                  <a:moveTo>
                    <a:pt x="0" y="0"/>
                  </a:moveTo>
                  <a:lnTo>
                    <a:pt x="4816592" y="0"/>
                  </a:lnTo>
                  <a:lnTo>
                    <a:pt x="4816592" y="145185"/>
                  </a:lnTo>
                  <a:lnTo>
                    <a:pt x="0" y="145185"/>
                  </a:lnTo>
                  <a:close/>
                </a:path>
              </a:pathLst>
            </a:custGeom>
            <a:solidFill>
              <a:srgbClr val="604ABD"/>
            </a:solidFill>
            <a:ln w="19050" cap="sq">
              <a:solidFill>
                <a:srgbClr val="0D0D0D"/>
              </a:solidFill>
              <a:prstDash val="solid"/>
              <a:miter/>
            </a:ln>
          </p:spPr>
        </p:sp>
        <p:sp>
          <p:nvSpPr>
            <p:cNvPr name="TextBox 4" id="4"/>
            <p:cNvSpPr txBox="true"/>
            <p:nvPr/>
          </p:nvSpPr>
          <p:spPr>
            <a:xfrm>
              <a:off x="0" y="-38100"/>
              <a:ext cx="4816593" cy="18328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0">
            <a:off x="562848" y="188440"/>
            <a:ext cx="697483" cy="174371"/>
          </a:xfrm>
          <a:custGeom>
            <a:avLst/>
            <a:gdLst/>
            <a:ahLst/>
            <a:cxnLst/>
            <a:rect r="r" b="b" t="t" l="l"/>
            <a:pathLst>
              <a:path h="174371" w="697483">
                <a:moveTo>
                  <a:pt x="0" y="0"/>
                </a:moveTo>
                <a:lnTo>
                  <a:pt x="697483" y="0"/>
                </a:lnTo>
                <a:lnTo>
                  <a:pt x="697483" y="174371"/>
                </a:lnTo>
                <a:lnTo>
                  <a:pt x="0" y="1743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969608" y="551251"/>
            <a:ext cx="6826778" cy="9875991"/>
          </a:xfrm>
          <a:custGeom>
            <a:avLst/>
            <a:gdLst/>
            <a:ahLst/>
            <a:cxnLst/>
            <a:rect r="r" b="b" t="t" l="l"/>
            <a:pathLst>
              <a:path h="9875991" w="6826778">
                <a:moveTo>
                  <a:pt x="0" y="0"/>
                </a:moveTo>
                <a:lnTo>
                  <a:pt x="6826778" y="0"/>
                </a:lnTo>
                <a:lnTo>
                  <a:pt x="6826778" y="9875990"/>
                </a:lnTo>
                <a:lnTo>
                  <a:pt x="0" y="9875990"/>
                </a:lnTo>
                <a:lnTo>
                  <a:pt x="0" y="0"/>
                </a:lnTo>
                <a:close/>
              </a:path>
            </a:pathLst>
          </a:custGeom>
          <a:blipFill>
            <a:blip r:embed="rId4"/>
            <a:stretch>
              <a:fillRect l="0" t="0" r="0" b="0"/>
            </a:stretch>
          </a:blipFill>
        </p:spPr>
      </p:sp>
      <p:sp>
        <p:nvSpPr>
          <p:cNvPr name="Freeform 7" id="7"/>
          <p:cNvSpPr/>
          <p:nvPr/>
        </p:nvSpPr>
        <p:spPr>
          <a:xfrm flipH="false" flipV="false" rot="0">
            <a:off x="10270553" y="8580019"/>
            <a:ext cx="819097" cy="788381"/>
          </a:xfrm>
          <a:custGeom>
            <a:avLst/>
            <a:gdLst/>
            <a:ahLst/>
            <a:cxnLst/>
            <a:rect r="r" b="b" t="t" l="l"/>
            <a:pathLst>
              <a:path h="788381" w="819097">
                <a:moveTo>
                  <a:pt x="0" y="0"/>
                </a:moveTo>
                <a:lnTo>
                  <a:pt x="819096" y="0"/>
                </a:lnTo>
                <a:lnTo>
                  <a:pt x="819096" y="788381"/>
                </a:lnTo>
                <a:lnTo>
                  <a:pt x="0" y="7883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6700745" y="5771362"/>
            <a:ext cx="3278487" cy="411607"/>
          </a:xfrm>
          <a:prstGeom prst="rect">
            <a:avLst/>
          </a:prstGeom>
        </p:spPr>
        <p:txBody>
          <a:bodyPr anchor="t" rtlCol="false" tIns="0" lIns="0" bIns="0" rIns="0">
            <a:spAutoFit/>
          </a:bodyPr>
          <a:lstStyle/>
          <a:p>
            <a:pPr algn="ctr">
              <a:lnSpc>
                <a:spcPts val="3433"/>
              </a:lnSpc>
            </a:pPr>
            <a:r>
              <a:rPr lang="en-US" b="true" sz="2452">
                <a:solidFill>
                  <a:srgbClr val="665D5A"/>
                </a:solidFill>
                <a:latin typeface="Open Sans Bold"/>
                <a:ea typeface="Open Sans Bold"/>
                <a:cs typeface="Open Sans Bold"/>
                <a:sym typeface="Open Sans Bold"/>
              </a:rPr>
              <a:t>oanis052@gmail.com                          </a:t>
            </a:r>
          </a:p>
        </p:txBody>
      </p:sp>
      <p:sp>
        <p:nvSpPr>
          <p:cNvPr name="TextBox 9" id="9"/>
          <p:cNvSpPr txBox="true"/>
          <p:nvPr/>
        </p:nvSpPr>
        <p:spPr>
          <a:xfrm rot="0">
            <a:off x="6700745" y="7166398"/>
            <a:ext cx="3278487" cy="411607"/>
          </a:xfrm>
          <a:prstGeom prst="rect">
            <a:avLst/>
          </a:prstGeom>
        </p:spPr>
        <p:txBody>
          <a:bodyPr anchor="t" rtlCol="false" tIns="0" lIns="0" bIns="0" rIns="0">
            <a:spAutoFit/>
          </a:bodyPr>
          <a:lstStyle/>
          <a:p>
            <a:pPr algn="ctr">
              <a:lnSpc>
                <a:spcPts val="3433"/>
              </a:lnSpc>
            </a:pPr>
            <a:r>
              <a:rPr lang="en-US" b="true" sz="2452">
                <a:solidFill>
                  <a:srgbClr val="665D5A"/>
                </a:solidFill>
                <a:latin typeface="Open Sans Bold"/>
                <a:ea typeface="Open Sans Bold"/>
                <a:cs typeface="Open Sans Bold"/>
                <a:sym typeface="Open Sans Bold"/>
              </a:rPr>
              <a:t>****************                                </a:t>
            </a: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9D8D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551251"/>
            <a:chOff x="0" y="0"/>
            <a:chExt cx="4816593" cy="145185"/>
          </a:xfrm>
        </p:grpSpPr>
        <p:sp>
          <p:nvSpPr>
            <p:cNvPr name="Freeform 3" id="3"/>
            <p:cNvSpPr/>
            <p:nvPr/>
          </p:nvSpPr>
          <p:spPr>
            <a:xfrm flipH="false" flipV="false" rot="0">
              <a:off x="0" y="0"/>
              <a:ext cx="4816592" cy="145185"/>
            </a:xfrm>
            <a:custGeom>
              <a:avLst/>
              <a:gdLst/>
              <a:ahLst/>
              <a:cxnLst/>
              <a:rect r="r" b="b" t="t" l="l"/>
              <a:pathLst>
                <a:path h="145185" w="4816592">
                  <a:moveTo>
                    <a:pt x="0" y="0"/>
                  </a:moveTo>
                  <a:lnTo>
                    <a:pt x="4816592" y="0"/>
                  </a:lnTo>
                  <a:lnTo>
                    <a:pt x="4816592" y="145185"/>
                  </a:lnTo>
                  <a:lnTo>
                    <a:pt x="0" y="145185"/>
                  </a:lnTo>
                  <a:close/>
                </a:path>
              </a:pathLst>
            </a:custGeom>
            <a:solidFill>
              <a:srgbClr val="604ABD"/>
            </a:solidFill>
            <a:ln w="19050" cap="sq">
              <a:solidFill>
                <a:srgbClr val="0D0D0D"/>
              </a:solidFill>
              <a:prstDash val="solid"/>
              <a:miter/>
            </a:ln>
          </p:spPr>
        </p:sp>
        <p:sp>
          <p:nvSpPr>
            <p:cNvPr name="TextBox 4" id="4"/>
            <p:cNvSpPr txBox="true"/>
            <p:nvPr/>
          </p:nvSpPr>
          <p:spPr>
            <a:xfrm>
              <a:off x="0" y="-38100"/>
              <a:ext cx="4816593" cy="18328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0">
            <a:off x="562848" y="188440"/>
            <a:ext cx="697483" cy="174371"/>
          </a:xfrm>
          <a:custGeom>
            <a:avLst/>
            <a:gdLst/>
            <a:ahLst/>
            <a:cxnLst/>
            <a:rect r="r" b="b" t="t" l="l"/>
            <a:pathLst>
              <a:path h="174371" w="697483">
                <a:moveTo>
                  <a:pt x="0" y="0"/>
                </a:moveTo>
                <a:lnTo>
                  <a:pt x="697483" y="0"/>
                </a:lnTo>
                <a:lnTo>
                  <a:pt x="697483" y="174371"/>
                </a:lnTo>
                <a:lnTo>
                  <a:pt x="0" y="1743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526278" y="665542"/>
            <a:ext cx="9200196" cy="9211710"/>
          </a:xfrm>
          <a:custGeom>
            <a:avLst/>
            <a:gdLst/>
            <a:ahLst/>
            <a:cxnLst/>
            <a:rect r="r" b="b" t="t" l="l"/>
            <a:pathLst>
              <a:path h="9211710" w="9200196">
                <a:moveTo>
                  <a:pt x="0" y="0"/>
                </a:moveTo>
                <a:lnTo>
                  <a:pt x="9200196" y="0"/>
                </a:lnTo>
                <a:lnTo>
                  <a:pt x="9200196" y="9211711"/>
                </a:lnTo>
                <a:lnTo>
                  <a:pt x="0" y="9211711"/>
                </a:lnTo>
                <a:lnTo>
                  <a:pt x="0" y="0"/>
                </a:lnTo>
                <a:close/>
              </a:path>
            </a:pathLst>
          </a:custGeom>
          <a:blipFill>
            <a:blip r:embed="rId4"/>
            <a:stretch>
              <a:fillRect l="0" t="0" r="0" b="0"/>
            </a:stretch>
          </a:blipFill>
        </p:spPr>
      </p:sp>
      <p:sp>
        <p:nvSpPr>
          <p:cNvPr name="Freeform 7" id="7"/>
          <p:cNvSpPr/>
          <p:nvPr/>
        </p:nvSpPr>
        <p:spPr>
          <a:xfrm flipH="false" flipV="false" rot="0">
            <a:off x="0" y="829352"/>
            <a:ext cx="8526278" cy="8428948"/>
          </a:xfrm>
          <a:custGeom>
            <a:avLst/>
            <a:gdLst/>
            <a:ahLst/>
            <a:cxnLst/>
            <a:rect r="r" b="b" t="t" l="l"/>
            <a:pathLst>
              <a:path h="8428948" w="8526278">
                <a:moveTo>
                  <a:pt x="0" y="0"/>
                </a:moveTo>
                <a:lnTo>
                  <a:pt x="8526278" y="0"/>
                </a:lnTo>
                <a:lnTo>
                  <a:pt x="8526278" y="8428948"/>
                </a:lnTo>
                <a:lnTo>
                  <a:pt x="0" y="8428948"/>
                </a:lnTo>
                <a:lnTo>
                  <a:pt x="0" y="0"/>
                </a:lnTo>
                <a:close/>
              </a:path>
            </a:pathLst>
          </a:custGeom>
          <a:blipFill>
            <a:blip r:embed="rId5"/>
            <a:stretch>
              <a:fillRect l="-2098" t="0" r="-2098" b="-1975"/>
            </a:stretch>
          </a:blipFill>
        </p:spPr>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13246" y="4859702"/>
            <a:ext cx="17867702" cy="900970"/>
          </a:xfrm>
          <a:prstGeom prst="rect">
            <a:avLst/>
          </a:prstGeom>
        </p:spPr>
        <p:txBody>
          <a:bodyPr anchor="t" rtlCol="false" tIns="0" lIns="0" bIns="0" rIns="0">
            <a:spAutoFit/>
          </a:bodyPr>
          <a:lstStyle/>
          <a:p>
            <a:pPr algn="ctr" marL="0" indent="0" lvl="0">
              <a:lnSpc>
                <a:spcPts val="6257"/>
              </a:lnSpc>
              <a:spcBef>
                <a:spcPct val="0"/>
              </a:spcBef>
            </a:pPr>
            <a:r>
              <a:rPr lang="en-US" sz="8126" strike="noStrike" u="none">
                <a:solidFill>
                  <a:srgbClr val="D49E26"/>
                </a:solidFill>
                <a:latin typeface="Radley"/>
                <a:ea typeface="Radley"/>
                <a:cs typeface="Radley"/>
                <a:sym typeface="Radley"/>
              </a:rPr>
              <a:t>Parcours admin</a:t>
            </a:r>
          </a:p>
        </p:txBody>
      </p:sp>
      <p:sp>
        <p:nvSpPr>
          <p:cNvPr name="TextBox 3" id="3"/>
          <p:cNvSpPr txBox="true"/>
          <p:nvPr/>
        </p:nvSpPr>
        <p:spPr>
          <a:xfrm rot="0">
            <a:off x="17259300" y="9210675"/>
            <a:ext cx="254198" cy="577851"/>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14</a:t>
            </a:r>
          </a:p>
        </p:txBody>
      </p:sp>
      <p:grpSp>
        <p:nvGrpSpPr>
          <p:cNvPr name="Group 4" id="4"/>
          <p:cNvGrpSpPr/>
          <p:nvPr/>
        </p:nvGrpSpPr>
        <p:grpSpPr>
          <a:xfrm rot="0">
            <a:off x="-2182955" y="-1813159"/>
            <a:ext cx="22136667" cy="13515802"/>
            <a:chOff x="0" y="0"/>
            <a:chExt cx="29515555" cy="18021069"/>
          </a:xfrm>
        </p:grpSpPr>
        <p:sp>
          <p:nvSpPr>
            <p:cNvPr name="Freeform 5" id="5"/>
            <p:cNvSpPr/>
            <p:nvPr/>
          </p:nvSpPr>
          <p:spPr>
            <a:xfrm flipH="false" flipV="false" rot="-5400000">
              <a:off x="20694528" y="9200041"/>
              <a:ext cx="9712843" cy="7929212"/>
            </a:xfrm>
            <a:custGeom>
              <a:avLst/>
              <a:gdLst/>
              <a:ahLst/>
              <a:cxnLst/>
              <a:rect r="r" b="b" t="t" l="l"/>
              <a:pathLst>
                <a:path h="7929212" w="9712843">
                  <a:moveTo>
                    <a:pt x="0" y="0"/>
                  </a:moveTo>
                  <a:lnTo>
                    <a:pt x="9712843" y="0"/>
                  </a:lnTo>
                  <a:lnTo>
                    <a:pt x="9712843" y="7929212"/>
                  </a:lnTo>
                  <a:lnTo>
                    <a:pt x="0" y="7929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6495484">
              <a:off x="307039" y="10019620"/>
              <a:ext cx="9810905" cy="2550835"/>
            </a:xfrm>
            <a:custGeom>
              <a:avLst/>
              <a:gdLst/>
              <a:ahLst/>
              <a:cxnLst/>
              <a:rect r="r" b="b" t="t" l="l"/>
              <a:pathLst>
                <a:path h="2550835" w="9810905">
                  <a:moveTo>
                    <a:pt x="0" y="0"/>
                  </a:moveTo>
                  <a:lnTo>
                    <a:pt x="9810904" y="0"/>
                  </a:lnTo>
                  <a:lnTo>
                    <a:pt x="9810904" y="2550836"/>
                  </a:lnTo>
                  <a:lnTo>
                    <a:pt x="0" y="25508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400000">
              <a:off x="-1045018" y="1045018"/>
              <a:ext cx="11381382" cy="9291346"/>
            </a:xfrm>
            <a:custGeom>
              <a:avLst/>
              <a:gdLst/>
              <a:ahLst/>
              <a:cxnLst/>
              <a:rect r="r" b="b" t="t" l="l"/>
              <a:pathLst>
                <a:path h="9291346" w="11381382">
                  <a:moveTo>
                    <a:pt x="0" y="0"/>
                  </a:moveTo>
                  <a:lnTo>
                    <a:pt x="11381382" y="0"/>
                  </a:lnTo>
                  <a:lnTo>
                    <a:pt x="11381382" y="9291346"/>
                  </a:lnTo>
                  <a:lnTo>
                    <a:pt x="0" y="92913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4700908">
              <a:off x="20645497" y="5898752"/>
              <a:ext cx="9810905" cy="2550835"/>
            </a:xfrm>
            <a:custGeom>
              <a:avLst/>
              <a:gdLst/>
              <a:ahLst/>
              <a:cxnLst/>
              <a:rect r="r" b="b" t="t" l="l"/>
              <a:pathLst>
                <a:path h="2550835" w="9810905">
                  <a:moveTo>
                    <a:pt x="0" y="0"/>
                  </a:moveTo>
                  <a:lnTo>
                    <a:pt x="9810905" y="0"/>
                  </a:lnTo>
                  <a:lnTo>
                    <a:pt x="9810905" y="2550835"/>
                  </a:lnTo>
                  <a:lnTo>
                    <a:pt x="0" y="25508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9D8D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551251"/>
            <a:chOff x="0" y="0"/>
            <a:chExt cx="4816593" cy="145185"/>
          </a:xfrm>
        </p:grpSpPr>
        <p:sp>
          <p:nvSpPr>
            <p:cNvPr name="Freeform 3" id="3"/>
            <p:cNvSpPr/>
            <p:nvPr/>
          </p:nvSpPr>
          <p:spPr>
            <a:xfrm flipH="false" flipV="false" rot="0">
              <a:off x="0" y="0"/>
              <a:ext cx="4816592" cy="145185"/>
            </a:xfrm>
            <a:custGeom>
              <a:avLst/>
              <a:gdLst/>
              <a:ahLst/>
              <a:cxnLst/>
              <a:rect r="r" b="b" t="t" l="l"/>
              <a:pathLst>
                <a:path h="145185" w="4816592">
                  <a:moveTo>
                    <a:pt x="0" y="0"/>
                  </a:moveTo>
                  <a:lnTo>
                    <a:pt x="4816592" y="0"/>
                  </a:lnTo>
                  <a:lnTo>
                    <a:pt x="4816592" y="145185"/>
                  </a:lnTo>
                  <a:lnTo>
                    <a:pt x="0" y="145185"/>
                  </a:lnTo>
                  <a:close/>
                </a:path>
              </a:pathLst>
            </a:custGeom>
            <a:solidFill>
              <a:srgbClr val="604ABD"/>
            </a:solidFill>
            <a:ln w="19050" cap="sq">
              <a:solidFill>
                <a:srgbClr val="0D0D0D"/>
              </a:solidFill>
              <a:prstDash val="solid"/>
              <a:miter/>
            </a:ln>
          </p:spPr>
        </p:sp>
        <p:sp>
          <p:nvSpPr>
            <p:cNvPr name="TextBox 4" id="4"/>
            <p:cNvSpPr txBox="true"/>
            <p:nvPr/>
          </p:nvSpPr>
          <p:spPr>
            <a:xfrm>
              <a:off x="0" y="-38100"/>
              <a:ext cx="4816593" cy="18328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0">
            <a:off x="562848" y="188440"/>
            <a:ext cx="697483" cy="174371"/>
          </a:xfrm>
          <a:custGeom>
            <a:avLst/>
            <a:gdLst/>
            <a:ahLst/>
            <a:cxnLst/>
            <a:rect r="r" b="b" t="t" l="l"/>
            <a:pathLst>
              <a:path h="174371" w="697483">
                <a:moveTo>
                  <a:pt x="0" y="0"/>
                </a:moveTo>
                <a:lnTo>
                  <a:pt x="697483" y="0"/>
                </a:lnTo>
                <a:lnTo>
                  <a:pt x="697483" y="174371"/>
                </a:lnTo>
                <a:lnTo>
                  <a:pt x="0" y="1743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535923" y="798689"/>
            <a:ext cx="14177623" cy="9321787"/>
          </a:xfrm>
          <a:custGeom>
            <a:avLst/>
            <a:gdLst/>
            <a:ahLst/>
            <a:cxnLst/>
            <a:rect r="r" b="b" t="t" l="l"/>
            <a:pathLst>
              <a:path h="9321787" w="14177623">
                <a:moveTo>
                  <a:pt x="0" y="0"/>
                </a:moveTo>
                <a:lnTo>
                  <a:pt x="14177623" y="0"/>
                </a:lnTo>
                <a:lnTo>
                  <a:pt x="14177623" y="9321788"/>
                </a:lnTo>
                <a:lnTo>
                  <a:pt x="0" y="9321788"/>
                </a:lnTo>
                <a:lnTo>
                  <a:pt x="0" y="0"/>
                </a:lnTo>
                <a:close/>
              </a:path>
            </a:pathLst>
          </a:custGeom>
          <a:blipFill>
            <a:blip r:embed="rId4"/>
            <a:stretch>
              <a:fillRect l="0" t="0" r="0" b="0"/>
            </a:stretch>
          </a:blipFill>
        </p:spPr>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95484">
            <a:off x="-1952676" y="5701556"/>
            <a:ext cx="7358179" cy="1913126"/>
          </a:xfrm>
          <a:custGeom>
            <a:avLst/>
            <a:gdLst/>
            <a:ahLst/>
            <a:cxnLst/>
            <a:rect r="r" b="b" t="t" l="l"/>
            <a:pathLst>
              <a:path h="1913126" w="7358179">
                <a:moveTo>
                  <a:pt x="0" y="0"/>
                </a:moveTo>
                <a:lnTo>
                  <a:pt x="7358178" y="0"/>
                </a:lnTo>
                <a:lnTo>
                  <a:pt x="7358178" y="1913127"/>
                </a:lnTo>
                <a:lnTo>
                  <a:pt x="0" y="19131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966719" y="-1029396"/>
            <a:ext cx="8536036" cy="6968510"/>
          </a:xfrm>
          <a:custGeom>
            <a:avLst/>
            <a:gdLst/>
            <a:ahLst/>
            <a:cxnLst/>
            <a:rect r="r" b="b" t="t" l="l"/>
            <a:pathLst>
              <a:path h="6968510" w="8536036">
                <a:moveTo>
                  <a:pt x="0" y="0"/>
                </a:moveTo>
                <a:lnTo>
                  <a:pt x="8536037" y="0"/>
                </a:lnTo>
                <a:lnTo>
                  <a:pt x="8536037" y="6968510"/>
                </a:lnTo>
                <a:lnTo>
                  <a:pt x="0" y="6968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787468" y="323062"/>
            <a:ext cx="11407609" cy="2701659"/>
            <a:chOff x="0" y="0"/>
            <a:chExt cx="15210146" cy="3602212"/>
          </a:xfrm>
        </p:grpSpPr>
        <p:sp>
          <p:nvSpPr>
            <p:cNvPr name="TextBox 5" id="5"/>
            <p:cNvSpPr txBox="true"/>
            <p:nvPr/>
          </p:nvSpPr>
          <p:spPr>
            <a:xfrm rot="0">
              <a:off x="0" y="171450"/>
              <a:ext cx="15210146" cy="1674560"/>
            </a:xfrm>
            <a:prstGeom prst="rect">
              <a:avLst/>
            </a:prstGeom>
          </p:spPr>
          <p:txBody>
            <a:bodyPr anchor="t" rtlCol="false" tIns="0" lIns="0" bIns="0" rIns="0">
              <a:spAutoFit/>
            </a:bodyPr>
            <a:lstStyle/>
            <a:p>
              <a:pPr algn="ctr">
                <a:lnSpc>
                  <a:spcPts val="9114"/>
                </a:lnSpc>
              </a:pPr>
              <a:r>
                <a:rPr lang="en-US" sz="9114">
                  <a:solidFill>
                    <a:srgbClr val="D49E26"/>
                  </a:solidFill>
                  <a:latin typeface="Radley"/>
                  <a:ea typeface="Radley"/>
                  <a:cs typeface="Radley"/>
                  <a:sym typeface="Radley"/>
                </a:rPr>
                <a:t>Technologies </a:t>
              </a:r>
              <a:r>
                <a:rPr lang="en-US" sz="9114">
                  <a:solidFill>
                    <a:srgbClr val="D49E26"/>
                  </a:solidFill>
                  <a:latin typeface="Radley"/>
                  <a:ea typeface="Radley"/>
                  <a:cs typeface="Radley"/>
                  <a:sym typeface="Radley"/>
                </a:rPr>
                <a:t>utilisées</a:t>
              </a:r>
            </a:p>
          </p:txBody>
        </p:sp>
        <p:sp>
          <p:nvSpPr>
            <p:cNvPr name="TextBox 6" id="6"/>
            <p:cNvSpPr txBox="true"/>
            <p:nvPr/>
          </p:nvSpPr>
          <p:spPr>
            <a:xfrm rot="0">
              <a:off x="0" y="3150823"/>
              <a:ext cx="11505902" cy="451389"/>
            </a:xfrm>
            <a:prstGeom prst="rect">
              <a:avLst/>
            </a:prstGeom>
          </p:spPr>
          <p:txBody>
            <a:bodyPr anchor="t" rtlCol="false" tIns="0" lIns="0" bIns="0" rIns="0">
              <a:spAutoFit/>
            </a:bodyPr>
            <a:lstStyle/>
            <a:p>
              <a:pPr algn="ctr">
                <a:lnSpc>
                  <a:spcPts val="2609"/>
                </a:lnSpc>
              </a:pPr>
            </a:p>
          </p:txBody>
        </p:sp>
      </p:grpSp>
      <p:sp>
        <p:nvSpPr>
          <p:cNvPr name="Freeform 7" id="7"/>
          <p:cNvSpPr/>
          <p:nvPr/>
        </p:nvSpPr>
        <p:spPr>
          <a:xfrm flipH="false" flipV="false" rot="-5400000">
            <a:off x="13337941" y="5086872"/>
            <a:ext cx="7284632" cy="5946909"/>
          </a:xfrm>
          <a:custGeom>
            <a:avLst/>
            <a:gdLst/>
            <a:ahLst/>
            <a:cxnLst/>
            <a:rect r="r" b="b" t="t" l="l"/>
            <a:pathLst>
              <a:path h="5946909" w="7284632">
                <a:moveTo>
                  <a:pt x="0" y="0"/>
                </a:moveTo>
                <a:lnTo>
                  <a:pt x="7284632" y="0"/>
                </a:lnTo>
                <a:lnTo>
                  <a:pt x="7284632" y="5946909"/>
                </a:lnTo>
                <a:lnTo>
                  <a:pt x="0" y="59469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4700908">
            <a:off x="13301167" y="2610905"/>
            <a:ext cx="7358179" cy="1913126"/>
          </a:xfrm>
          <a:custGeom>
            <a:avLst/>
            <a:gdLst/>
            <a:ahLst/>
            <a:cxnLst/>
            <a:rect r="r" b="b" t="t" l="l"/>
            <a:pathLst>
              <a:path h="1913126" w="7358179">
                <a:moveTo>
                  <a:pt x="0" y="0"/>
                </a:moveTo>
                <a:lnTo>
                  <a:pt x="7358179" y="0"/>
                </a:lnTo>
                <a:lnTo>
                  <a:pt x="7358179" y="1913126"/>
                </a:lnTo>
                <a:lnTo>
                  <a:pt x="0" y="19131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16</a:t>
            </a:r>
          </a:p>
        </p:txBody>
      </p:sp>
      <p:sp>
        <p:nvSpPr>
          <p:cNvPr name="TextBox 10" id="10"/>
          <p:cNvSpPr txBox="true"/>
          <p:nvPr/>
        </p:nvSpPr>
        <p:spPr>
          <a:xfrm rot="0">
            <a:off x="2470325" y="2958046"/>
            <a:ext cx="13347350" cy="4287336"/>
          </a:xfrm>
          <a:prstGeom prst="rect">
            <a:avLst/>
          </a:prstGeom>
        </p:spPr>
        <p:txBody>
          <a:bodyPr anchor="t" rtlCol="false" tIns="0" lIns="0" bIns="0" rIns="0">
            <a:spAutoFit/>
          </a:bodyPr>
          <a:lstStyle/>
          <a:p>
            <a:pPr algn="ctr" marL="892324" indent="-446162" lvl="1">
              <a:lnSpc>
                <a:spcPts val="5786"/>
              </a:lnSpc>
              <a:spcBef>
                <a:spcPct val="0"/>
              </a:spcBef>
              <a:buFont typeface="Arial"/>
              <a:buChar char="•"/>
            </a:pPr>
            <a:r>
              <a:rPr lang="en-US" b="true" sz="4133">
                <a:solidFill>
                  <a:srgbClr val="665D5A"/>
                </a:solidFill>
                <a:latin typeface="Open Sans Bold"/>
                <a:ea typeface="Open Sans Bold"/>
                <a:cs typeface="Open Sans Bold"/>
                <a:sym typeface="Open Sans Bold"/>
              </a:rPr>
              <a:t>Le fr</a:t>
            </a:r>
            <a:r>
              <a:rPr lang="en-US" b="true" sz="4133">
                <a:solidFill>
                  <a:srgbClr val="665D5A"/>
                </a:solidFill>
                <a:latin typeface="Open Sans Bold"/>
                <a:ea typeface="Open Sans Bold"/>
                <a:cs typeface="Open Sans Bold"/>
                <a:sym typeface="Open Sans Bold"/>
              </a:rPr>
              <a:t>ont-end est développé en HTML5 et CSS3 sans framework, avec une feuille de style dédiée par page pour un code léger et bien organisé.</a:t>
            </a:r>
          </a:p>
          <a:p>
            <a:pPr algn="ctr">
              <a:lnSpc>
                <a:spcPts val="5786"/>
              </a:lnSpc>
              <a:spcBef>
                <a:spcPct val="0"/>
              </a:spcBef>
            </a:pPr>
          </a:p>
          <a:p>
            <a:pPr algn="ctr">
              <a:lnSpc>
                <a:spcPts val="5786"/>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95484">
            <a:off x="-1952676" y="5701556"/>
            <a:ext cx="7358179" cy="1913126"/>
          </a:xfrm>
          <a:custGeom>
            <a:avLst/>
            <a:gdLst/>
            <a:ahLst/>
            <a:cxnLst/>
            <a:rect r="r" b="b" t="t" l="l"/>
            <a:pathLst>
              <a:path h="1913126" w="7358179">
                <a:moveTo>
                  <a:pt x="0" y="0"/>
                </a:moveTo>
                <a:lnTo>
                  <a:pt x="7358178" y="0"/>
                </a:lnTo>
                <a:lnTo>
                  <a:pt x="7358178" y="1913127"/>
                </a:lnTo>
                <a:lnTo>
                  <a:pt x="0" y="19131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966719" y="-1029396"/>
            <a:ext cx="8536036" cy="6968510"/>
          </a:xfrm>
          <a:custGeom>
            <a:avLst/>
            <a:gdLst/>
            <a:ahLst/>
            <a:cxnLst/>
            <a:rect r="r" b="b" t="t" l="l"/>
            <a:pathLst>
              <a:path h="6968510" w="8536036">
                <a:moveTo>
                  <a:pt x="0" y="0"/>
                </a:moveTo>
                <a:lnTo>
                  <a:pt x="8536037" y="0"/>
                </a:lnTo>
                <a:lnTo>
                  <a:pt x="8536037" y="6968510"/>
                </a:lnTo>
                <a:lnTo>
                  <a:pt x="0" y="6968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3337941" y="5086872"/>
            <a:ext cx="7284632" cy="5946909"/>
          </a:xfrm>
          <a:custGeom>
            <a:avLst/>
            <a:gdLst/>
            <a:ahLst/>
            <a:cxnLst/>
            <a:rect r="r" b="b" t="t" l="l"/>
            <a:pathLst>
              <a:path h="5946909" w="7284632">
                <a:moveTo>
                  <a:pt x="0" y="0"/>
                </a:moveTo>
                <a:lnTo>
                  <a:pt x="7284632" y="0"/>
                </a:lnTo>
                <a:lnTo>
                  <a:pt x="7284632" y="5946909"/>
                </a:lnTo>
                <a:lnTo>
                  <a:pt x="0" y="59469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4700908">
            <a:off x="13301167" y="2610905"/>
            <a:ext cx="7358179" cy="1913126"/>
          </a:xfrm>
          <a:custGeom>
            <a:avLst/>
            <a:gdLst/>
            <a:ahLst/>
            <a:cxnLst/>
            <a:rect r="r" b="b" t="t" l="l"/>
            <a:pathLst>
              <a:path h="1913126" w="7358179">
                <a:moveTo>
                  <a:pt x="0" y="0"/>
                </a:moveTo>
                <a:lnTo>
                  <a:pt x="7358179" y="0"/>
                </a:lnTo>
                <a:lnTo>
                  <a:pt x="7358179" y="1913126"/>
                </a:lnTo>
                <a:lnTo>
                  <a:pt x="0" y="19131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17</a:t>
            </a:r>
          </a:p>
        </p:txBody>
      </p:sp>
      <p:sp>
        <p:nvSpPr>
          <p:cNvPr name="TextBox 7" id="7"/>
          <p:cNvSpPr txBox="true"/>
          <p:nvPr/>
        </p:nvSpPr>
        <p:spPr>
          <a:xfrm rot="0">
            <a:off x="1946653" y="2343932"/>
            <a:ext cx="14631802" cy="5020001"/>
          </a:xfrm>
          <a:prstGeom prst="rect">
            <a:avLst/>
          </a:prstGeom>
        </p:spPr>
        <p:txBody>
          <a:bodyPr anchor="t" rtlCol="false" tIns="0" lIns="0" bIns="0" rIns="0">
            <a:spAutoFit/>
          </a:bodyPr>
          <a:lstStyle/>
          <a:p>
            <a:pPr algn="ctr">
              <a:lnSpc>
                <a:spcPts val="5061"/>
              </a:lnSpc>
              <a:spcBef>
                <a:spcPct val="0"/>
              </a:spcBef>
            </a:pPr>
          </a:p>
          <a:p>
            <a:pPr algn="ctr" marL="780564" indent="-390282" lvl="1">
              <a:lnSpc>
                <a:spcPts val="5061"/>
              </a:lnSpc>
              <a:spcBef>
                <a:spcPct val="0"/>
              </a:spcBef>
              <a:buFont typeface="Arial"/>
              <a:buChar char="•"/>
            </a:pPr>
            <a:r>
              <a:rPr lang="en-US" b="true" sz="3615">
                <a:solidFill>
                  <a:srgbClr val="665D5A"/>
                </a:solidFill>
                <a:latin typeface="Open Sans Bold"/>
                <a:ea typeface="Open Sans Bold"/>
                <a:cs typeface="Open Sans Bold"/>
                <a:sym typeface="Open Sans Bold"/>
              </a:rPr>
              <a:t> La logique métier est entièrement gérée en JavaScript réparti en fichiers distincts selon les responsabilités : authentification, réservation, gestion des places et administration. </a:t>
            </a:r>
          </a:p>
          <a:p>
            <a:pPr algn="ctr">
              <a:lnSpc>
                <a:spcPts val="5061"/>
              </a:lnSpc>
              <a:spcBef>
                <a:spcPct val="0"/>
              </a:spcBef>
            </a:pPr>
          </a:p>
          <a:p>
            <a:pPr algn="ctr" rtl="true" marL="780564" indent="-390282" lvl="1">
              <a:lnSpc>
                <a:spcPts val="5061"/>
              </a:lnSpc>
              <a:spcBef>
                <a:spcPct val="0"/>
              </a:spcBef>
              <a:buFont typeface="Arial"/>
              <a:buChar char="•"/>
            </a:pPr>
          </a:p>
          <a:p>
            <a:pPr algn="ctr">
              <a:lnSpc>
                <a:spcPts val="5061"/>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95484">
            <a:off x="-1952676" y="5701556"/>
            <a:ext cx="7358179" cy="1913126"/>
          </a:xfrm>
          <a:custGeom>
            <a:avLst/>
            <a:gdLst/>
            <a:ahLst/>
            <a:cxnLst/>
            <a:rect r="r" b="b" t="t" l="l"/>
            <a:pathLst>
              <a:path h="1913126" w="7358179">
                <a:moveTo>
                  <a:pt x="0" y="0"/>
                </a:moveTo>
                <a:lnTo>
                  <a:pt x="7358178" y="0"/>
                </a:lnTo>
                <a:lnTo>
                  <a:pt x="7358178" y="1913127"/>
                </a:lnTo>
                <a:lnTo>
                  <a:pt x="0" y="19131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966719" y="-1029396"/>
            <a:ext cx="8536036" cy="6968510"/>
          </a:xfrm>
          <a:custGeom>
            <a:avLst/>
            <a:gdLst/>
            <a:ahLst/>
            <a:cxnLst/>
            <a:rect r="r" b="b" t="t" l="l"/>
            <a:pathLst>
              <a:path h="6968510" w="8536036">
                <a:moveTo>
                  <a:pt x="0" y="0"/>
                </a:moveTo>
                <a:lnTo>
                  <a:pt x="8536037" y="0"/>
                </a:lnTo>
                <a:lnTo>
                  <a:pt x="8536037" y="6968510"/>
                </a:lnTo>
                <a:lnTo>
                  <a:pt x="0" y="6968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3337941" y="5086872"/>
            <a:ext cx="7284632" cy="5946909"/>
          </a:xfrm>
          <a:custGeom>
            <a:avLst/>
            <a:gdLst/>
            <a:ahLst/>
            <a:cxnLst/>
            <a:rect r="r" b="b" t="t" l="l"/>
            <a:pathLst>
              <a:path h="5946909" w="7284632">
                <a:moveTo>
                  <a:pt x="0" y="0"/>
                </a:moveTo>
                <a:lnTo>
                  <a:pt x="7284632" y="0"/>
                </a:lnTo>
                <a:lnTo>
                  <a:pt x="7284632" y="5946909"/>
                </a:lnTo>
                <a:lnTo>
                  <a:pt x="0" y="59469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4700908">
            <a:off x="13301167" y="2610905"/>
            <a:ext cx="7358179" cy="1913126"/>
          </a:xfrm>
          <a:custGeom>
            <a:avLst/>
            <a:gdLst/>
            <a:ahLst/>
            <a:cxnLst/>
            <a:rect r="r" b="b" t="t" l="l"/>
            <a:pathLst>
              <a:path h="1913126" w="7358179">
                <a:moveTo>
                  <a:pt x="0" y="0"/>
                </a:moveTo>
                <a:lnTo>
                  <a:pt x="7358179" y="0"/>
                </a:lnTo>
                <a:lnTo>
                  <a:pt x="7358179" y="1913126"/>
                </a:lnTo>
                <a:lnTo>
                  <a:pt x="0" y="19131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18</a:t>
            </a:r>
          </a:p>
        </p:txBody>
      </p:sp>
      <p:sp>
        <p:nvSpPr>
          <p:cNvPr name="TextBox 7" id="7"/>
          <p:cNvSpPr txBox="true"/>
          <p:nvPr/>
        </p:nvSpPr>
        <p:spPr>
          <a:xfrm rot="0">
            <a:off x="1982999" y="2354896"/>
            <a:ext cx="14559110" cy="3965757"/>
          </a:xfrm>
          <a:prstGeom prst="rect">
            <a:avLst/>
          </a:prstGeom>
        </p:spPr>
        <p:txBody>
          <a:bodyPr anchor="t" rtlCol="false" tIns="0" lIns="0" bIns="0" rIns="0">
            <a:spAutoFit/>
          </a:bodyPr>
          <a:lstStyle/>
          <a:p>
            <a:pPr algn="ctr">
              <a:lnSpc>
                <a:spcPts val="5332"/>
              </a:lnSpc>
              <a:spcBef>
                <a:spcPct val="0"/>
              </a:spcBef>
            </a:pPr>
          </a:p>
          <a:p>
            <a:pPr algn="ctr">
              <a:lnSpc>
                <a:spcPts val="5332"/>
              </a:lnSpc>
              <a:spcBef>
                <a:spcPct val="0"/>
              </a:spcBef>
            </a:pPr>
          </a:p>
          <a:p>
            <a:pPr algn="ctr" marL="822323" indent="-411161" lvl="1">
              <a:lnSpc>
                <a:spcPts val="5332"/>
              </a:lnSpc>
              <a:spcBef>
                <a:spcPct val="0"/>
              </a:spcBef>
              <a:buFont typeface="Arial"/>
              <a:buChar char="•"/>
            </a:pPr>
            <a:r>
              <a:rPr lang="en-US" b="true" sz="3808">
                <a:solidFill>
                  <a:srgbClr val="665D5A"/>
                </a:solidFill>
                <a:latin typeface="Open Sans Bold"/>
                <a:ea typeface="Open Sans Bold"/>
                <a:cs typeface="Open Sans Bold"/>
                <a:sym typeface="Open Sans Bold"/>
              </a:rPr>
              <a:t>Enfin, les données sont stockées via Supabase, qui fournit une base de données hébergée et une API prête à l'emploi, sans serveur back-end dédié.</a:t>
            </a:r>
          </a:p>
          <a:p>
            <a:pPr algn="ctr">
              <a:lnSpc>
                <a:spcPts val="5332"/>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95484">
            <a:off x="-1952676" y="5701556"/>
            <a:ext cx="7358179" cy="1913126"/>
          </a:xfrm>
          <a:custGeom>
            <a:avLst/>
            <a:gdLst/>
            <a:ahLst/>
            <a:cxnLst/>
            <a:rect r="r" b="b" t="t" l="l"/>
            <a:pathLst>
              <a:path h="1913126" w="7358179">
                <a:moveTo>
                  <a:pt x="0" y="0"/>
                </a:moveTo>
                <a:lnTo>
                  <a:pt x="7358178" y="0"/>
                </a:lnTo>
                <a:lnTo>
                  <a:pt x="7358178" y="1913127"/>
                </a:lnTo>
                <a:lnTo>
                  <a:pt x="0" y="19131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966719" y="-1029396"/>
            <a:ext cx="8536036" cy="6968510"/>
          </a:xfrm>
          <a:custGeom>
            <a:avLst/>
            <a:gdLst/>
            <a:ahLst/>
            <a:cxnLst/>
            <a:rect r="r" b="b" t="t" l="l"/>
            <a:pathLst>
              <a:path h="6968510" w="8536036">
                <a:moveTo>
                  <a:pt x="0" y="0"/>
                </a:moveTo>
                <a:lnTo>
                  <a:pt x="8536037" y="0"/>
                </a:lnTo>
                <a:lnTo>
                  <a:pt x="8536037" y="6968510"/>
                </a:lnTo>
                <a:lnTo>
                  <a:pt x="0" y="6968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787468" y="323062"/>
            <a:ext cx="11407609" cy="2701659"/>
            <a:chOff x="0" y="0"/>
            <a:chExt cx="15210146" cy="3602212"/>
          </a:xfrm>
        </p:grpSpPr>
        <p:sp>
          <p:nvSpPr>
            <p:cNvPr name="TextBox 5" id="5"/>
            <p:cNvSpPr txBox="true"/>
            <p:nvPr/>
          </p:nvSpPr>
          <p:spPr>
            <a:xfrm rot="0">
              <a:off x="0" y="171450"/>
              <a:ext cx="15210146" cy="1674560"/>
            </a:xfrm>
            <a:prstGeom prst="rect">
              <a:avLst/>
            </a:prstGeom>
          </p:spPr>
          <p:txBody>
            <a:bodyPr anchor="t" rtlCol="false" tIns="0" lIns="0" bIns="0" rIns="0">
              <a:spAutoFit/>
            </a:bodyPr>
            <a:lstStyle/>
            <a:p>
              <a:pPr algn="ctr">
                <a:lnSpc>
                  <a:spcPts val="9114"/>
                </a:lnSpc>
              </a:pPr>
              <a:r>
                <a:rPr lang="en-US" sz="9114">
                  <a:solidFill>
                    <a:srgbClr val="D49E26"/>
                  </a:solidFill>
                  <a:latin typeface="Radley"/>
                  <a:ea typeface="Radley"/>
                  <a:cs typeface="Radley"/>
                  <a:sym typeface="Radley"/>
                </a:rPr>
                <a:t>Concl</a:t>
              </a:r>
              <a:r>
                <a:rPr lang="en-US" sz="9114">
                  <a:solidFill>
                    <a:srgbClr val="D49E26"/>
                  </a:solidFill>
                  <a:latin typeface="Radley"/>
                  <a:ea typeface="Radley"/>
                  <a:cs typeface="Radley"/>
                  <a:sym typeface="Radley"/>
                </a:rPr>
                <a:t>usion</a:t>
              </a:r>
            </a:p>
          </p:txBody>
        </p:sp>
        <p:sp>
          <p:nvSpPr>
            <p:cNvPr name="TextBox 6" id="6"/>
            <p:cNvSpPr txBox="true"/>
            <p:nvPr/>
          </p:nvSpPr>
          <p:spPr>
            <a:xfrm rot="0">
              <a:off x="0" y="3150823"/>
              <a:ext cx="11505902" cy="451389"/>
            </a:xfrm>
            <a:prstGeom prst="rect">
              <a:avLst/>
            </a:prstGeom>
          </p:spPr>
          <p:txBody>
            <a:bodyPr anchor="t" rtlCol="false" tIns="0" lIns="0" bIns="0" rIns="0">
              <a:spAutoFit/>
            </a:bodyPr>
            <a:lstStyle/>
            <a:p>
              <a:pPr algn="ctr">
                <a:lnSpc>
                  <a:spcPts val="2609"/>
                </a:lnSpc>
              </a:pPr>
            </a:p>
          </p:txBody>
        </p:sp>
      </p:grpSp>
      <p:sp>
        <p:nvSpPr>
          <p:cNvPr name="Freeform 7" id="7"/>
          <p:cNvSpPr/>
          <p:nvPr/>
        </p:nvSpPr>
        <p:spPr>
          <a:xfrm flipH="false" flipV="false" rot="-5400000">
            <a:off x="13337941" y="5086872"/>
            <a:ext cx="7284632" cy="5946909"/>
          </a:xfrm>
          <a:custGeom>
            <a:avLst/>
            <a:gdLst/>
            <a:ahLst/>
            <a:cxnLst/>
            <a:rect r="r" b="b" t="t" l="l"/>
            <a:pathLst>
              <a:path h="5946909" w="7284632">
                <a:moveTo>
                  <a:pt x="0" y="0"/>
                </a:moveTo>
                <a:lnTo>
                  <a:pt x="7284632" y="0"/>
                </a:lnTo>
                <a:lnTo>
                  <a:pt x="7284632" y="5946909"/>
                </a:lnTo>
                <a:lnTo>
                  <a:pt x="0" y="59469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4700908">
            <a:off x="13301167" y="2610905"/>
            <a:ext cx="7358179" cy="1913126"/>
          </a:xfrm>
          <a:custGeom>
            <a:avLst/>
            <a:gdLst/>
            <a:ahLst/>
            <a:cxnLst/>
            <a:rect r="r" b="b" t="t" l="l"/>
            <a:pathLst>
              <a:path h="1913126" w="7358179">
                <a:moveTo>
                  <a:pt x="0" y="0"/>
                </a:moveTo>
                <a:lnTo>
                  <a:pt x="7358179" y="0"/>
                </a:lnTo>
                <a:lnTo>
                  <a:pt x="7358179" y="1913126"/>
                </a:lnTo>
                <a:lnTo>
                  <a:pt x="0" y="19131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19</a:t>
            </a:r>
          </a:p>
        </p:txBody>
      </p:sp>
      <p:sp>
        <p:nvSpPr>
          <p:cNvPr name="TextBox 10" id="10"/>
          <p:cNvSpPr txBox="true"/>
          <p:nvPr/>
        </p:nvSpPr>
        <p:spPr>
          <a:xfrm rot="0">
            <a:off x="2137647" y="2376713"/>
            <a:ext cx="14012706" cy="5457374"/>
          </a:xfrm>
          <a:prstGeom prst="rect">
            <a:avLst/>
          </a:prstGeom>
        </p:spPr>
        <p:txBody>
          <a:bodyPr anchor="t" rtlCol="false" tIns="0" lIns="0" bIns="0" rIns="0">
            <a:spAutoFit/>
          </a:bodyPr>
          <a:lstStyle/>
          <a:p>
            <a:pPr algn="ctr">
              <a:lnSpc>
                <a:spcPts val="5449"/>
              </a:lnSpc>
              <a:spcBef>
                <a:spcPct val="0"/>
              </a:spcBef>
            </a:pPr>
            <a:r>
              <a:rPr lang="en-US" b="true" sz="3892">
                <a:solidFill>
                  <a:srgbClr val="665D5A"/>
                </a:solidFill>
                <a:latin typeface="Open Sans Bold"/>
                <a:ea typeface="Open Sans Bold"/>
                <a:cs typeface="Open Sans Bold"/>
                <a:sym typeface="Open Sans Bold"/>
              </a:rPr>
              <a:t>StudyBite rép</a:t>
            </a:r>
            <a:r>
              <a:rPr lang="en-US" b="true" sz="3892">
                <a:solidFill>
                  <a:srgbClr val="665D5A"/>
                </a:solidFill>
                <a:latin typeface="Open Sans Bold"/>
                <a:ea typeface="Open Sans Bold"/>
                <a:cs typeface="Open Sans Bold"/>
                <a:sym typeface="Open Sans Bold"/>
              </a:rPr>
              <a:t>ond à la problématique avec une plateforme fonctionnelle et sécurisée, développée sans framework lourd et immédiatement déployable. Le projet nous a permis d’acquérir des compétences en développement full-stack, gestion de base de données cloud et conception d’interfaces. Des évolutions sont prévues, comme le paiement en ligne, les confirmations par email et une application mobile.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787468" y="548986"/>
            <a:ext cx="11905240" cy="4631157"/>
            <a:chOff x="0" y="0"/>
            <a:chExt cx="15873653" cy="6174876"/>
          </a:xfrm>
        </p:grpSpPr>
        <p:sp>
          <p:nvSpPr>
            <p:cNvPr name="TextBox 3" id="3"/>
            <p:cNvSpPr txBox="true"/>
            <p:nvPr/>
          </p:nvSpPr>
          <p:spPr>
            <a:xfrm rot="0">
              <a:off x="0" y="382905"/>
              <a:ext cx="15873653" cy="4429548"/>
            </a:xfrm>
            <a:prstGeom prst="rect">
              <a:avLst/>
            </a:prstGeom>
          </p:spPr>
          <p:txBody>
            <a:bodyPr anchor="t" rtlCol="false" tIns="0" lIns="0" bIns="0" rIns="0">
              <a:spAutoFit/>
            </a:bodyPr>
            <a:lstStyle/>
            <a:p>
              <a:pPr algn="ctr">
                <a:lnSpc>
                  <a:spcPts val="12575"/>
                </a:lnSpc>
              </a:pPr>
              <a:r>
                <a:rPr lang="en-US" sz="12575">
                  <a:solidFill>
                    <a:srgbClr val="D49E26"/>
                  </a:solidFill>
                  <a:latin typeface="Radley"/>
                  <a:ea typeface="Radley"/>
                  <a:cs typeface="Radley"/>
                  <a:sym typeface="Radley"/>
                </a:rPr>
                <a:t>Merci pour votre attention </a:t>
              </a:r>
            </a:p>
          </p:txBody>
        </p:sp>
        <p:sp>
          <p:nvSpPr>
            <p:cNvPr name="TextBox 4" id="4"/>
            <p:cNvSpPr txBox="true"/>
            <p:nvPr/>
          </p:nvSpPr>
          <p:spPr>
            <a:xfrm rot="0">
              <a:off x="0" y="5546226"/>
              <a:ext cx="15873653" cy="628650"/>
            </a:xfrm>
            <a:prstGeom prst="rect">
              <a:avLst/>
            </a:prstGeom>
          </p:spPr>
          <p:txBody>
            <a:bodyPr anchor="t" rtlCol="false" tIns="0" lIns="0" bIns="0" rIns="0">
              <a:spAutoFit/>
            </a:bodyPr>
            <a:lstStyle/>
            <a:p>
              <a:pPr algn="ctr">
                <a:lnSpc>
                  <a:spcPts val="3600"/>
                </a:lnSpc>
              </a:pPr>
            </a:p>
          </p:txBody>
        </p:sp>
      </p:grpSp>
      <p:sp>
        <p:nvSpPr>
          <p:cNvPr name="Freeform 5" id="5"/>
          <p:cNvSpPr/>
          <p:nvPr/>
        </p:nvSpPr>
        <p:spPr>
          <a:xfrm flipH="false" flipV="false" rot="-5400000">
            <a:off x="13337941" y="5086872"/>
            <a:ext cx="7284632" cy="5946909"/>
          </a:xfrm>
          <a:custGeom>
            <a:avLst/>
            <a:gdLst/>
            <a:ahLst/>
            <a:cxnLst/>
            <a:rect r="r" b="b" t="t" l="l"/>
            <a:pathLst>
              <a:path h="5946909" w="7284632">
                <a:moveTo>
                  <a:pt x="0" y="0"/>
                </a:moveTo>
                <a:lnTo>
                  <a:pt x="7284632" y="0"/>
                </a:lnTo>
                <a:lnTo>
                  <a:pt x="7284632" y="5946909"/>
                </a:lnTo>
                <a:lnTo>
                  <a:pt x="0" y="59469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2966719" y="-1029396"/>
            <a:ext cx="8536036" cy="6968510"/>
          </a:xfrm>
          <a:custGeom>
            <a:avLst/>
            <a:gdLst/>
            <a:ahLst/>
            <a:cxnLst/>
            <a:rect r="r" b="b" t="t" l="l"/>
            <a:pathLst>
              <a:path h="6968510" w="8536036">
                <a:moveTo>
                  <a:pt x="0" y="0"/>
                </a:moveTo>
                <a:lnTo>
                  <a:pt x="8536037" y="0"/>
                </a:lnTo>
                <a:lnTo>
                  <a:pt x="8536037" y="6968510"/>
                </a:lnTo>
                <a:lnTo>
                  <a:pt x="0" y="6968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6495484">
            <a:off x="-1952676" y="5701556"/>
            <a:ext cx="7358179" cy="1913126"/>
          </a:xfrm>
          <a:custGeom>
            <a:avLst/>
            <a:gdLst/>
            <a:ahLst/>
            <a:cxnLst/>
            <a:rect r="r" b="b" t="t" l="l"/>
            <a:pathLst>
              <a:path h="1913126" w="7358179">
                <a:moveTo>
                  <a:pt x="0" y="0"/>
                </a:moveTo>
                <a:lnTo>
                  <a:pt x="7358178" y="0"/>
                </a:lnTo>
                <a:lnTo>
                  <a:pt x="7358178" y="1913127"/>
                </a:lnTo>
                <a:lnTo>
                  <a:pt x="0" y="19131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4700908">
            <a:off x="13301167" y="2610905"/>
            <a:ext cx="7358179" cy="1913126"/>
          </a:xfrm>
          <a:custGeom>
            <a:avLst/>
            <a:gdLst/>
            <a:ahLst/>
            <a:cxnLst/>
            <a:rect r="r" b="b" t="t" l="l"/>
            <a:pathLst>
              <a:path h="1913126" w="7358179">
                <a:moveTo>
                  <a:pt x="0" y="0"/>
                </a:moveTo>
                <a:lnTo>
                  <a:pt x="7358179" y="0"/>
                </a:lnTo>
                <a:lnTo>
                  <a:pt x="7358179" y="1913126"/>
                </a:lnTo>
                <a:lnTo>
                  <a:pt x="0" y="19131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3219"/>
              </a:lnSpc>
              <a:spcBef>
                <a:spcPct val="0"/>
              </a:spcBef>
            </a:pPr>
            <a:r>
              <a:rPr lang="en-US" b="true" sz="2299">
                <a:solidFill>
                  <a:srgbClr val="665D5A"/>
                </a:solidFill>
                <a:latin typeface="Open Sans Bold"/>
                <a:ea typeface="Open Sans Bold"/>
                <a:cs typeface="Open Sans Bold"/>
                <a:sym typeface="Open Sans Bold"/>
              </a:rPr>
              <a:t>20</a:t>
            </a:r>
          </a:p>
        </p:txBody>
      </p:sp>
      <p:sp>
        <p:nvSpPr>
          <p:cNvPr name="TextBox 10" id="10"/>
          <p:cNvSpPr txBox="true"/>
          <p:nvPr/>
        </p:nvSpPr>
        <p:spPr>
          <a:xfrm rot="0">
            <a:off x="3228224" y="4881024"/>
            <a:ext cx="11831551" cy="1564064"/>
          </a:xfrm>
          <a:prstGeom prst="rect">
            <a:avLst/>
          </a:prstGeom>
        </p:spPr>
        <p:txBody>
          <a:bodyPr anchor="t" rtlCol="false" tIns="0" lIns="0" bIns="0" rIns="0">
            <a:spAutoFit/>
          </a:bodyPr>
          <a:lstStyle/>
          <a:p>
            <a:pPr algn="ctr">
              <a:lnSpc>
                <a:spcPts val="6272"/>
              </a:lnSpc>
            </a:pPr>
            <a:r>
              <a:rPr lang="en-US" sz="4480" b="true">
                <a:solidFill>
                  <a:srgbClr val="665D5A"/>
                </a:solidFill>
                <a:latin typeface="Open Sans Bold"/>
                <a:ea typeface="Open Sans Bold"/>
                <a:cs typeface="Open Sans Bold"/>
                <a:sym typeface="Open Sans Bold"/>
              </a:rPr>
              <a:t>Visiter notre site:</a:t>
            </a:r>
          </a:p>
          <a:p>
            <a:pPr algn="ctr">
              <a:lnSpc>
                <a:spcPts val="6272"/>
              </a:lnSpc>
            </a:pPr>
            <a:r>
              <a:rPr lang="en-US" sz="4480" b="true">
                <a:solidFill>
                  <a:srgbClr val="000000"/>
                </a:solidFill>
                <a:latin typeface="Open Sans Bold"/>
                <a:ea typeface="Open Sans Bold"/>
                <a:cs typeface="Open Sans Bold"/>
                <a:sym typeface="Open Sans Bold"/>
              </a:rPr>
              <a:t>https://anisothman.github.io/projet-web/</a:t>
            </a:r>
          </a:p>
        </p:txBody>
      </p:sp>
      <p:pic>
        <p:nvPicPr>
          <p:cNvPr name="Picture 11" id="11"/>
          <p:cNvPicPr>
            <a:picLocks noChangeAspect="true"/>
          </p:cNvPicPr>
          <p:nvPr/>
        </p:nvPicPr>
        <p:blipFill>
          <a:blip r:embed="rId10"/>
          <a:stretch>
            <a:fillRect/>
          </a:stretch>
        </p:blipFill>
        <p:spPr>
          <a:xfrm rot="0">
            <a:off x="7139609" y="6710592"/>
            <a:ext cx="3152006" cy="31520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DAHGW6KgtAM</dc:identifier>
  <dcterms:modified xsi:type="dcterms:W3CDTF">2011-08-01T06:04:30Z</dcterms:modified>
  <cp:revision>1</cp:revision>
  <dc:title>Présentation de portfolio de conception Web dans un style numérique rose, violet et orange</dc:title>
</cp:coreProperties>
</file>